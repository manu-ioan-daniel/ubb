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0" r:id="rId3"/>
    <p:sldId id="282" r:id="rId4"/>
    <p:sldId id="264" r:id="rId5"/>
    <p:sldId id="257" r:id="rId6"/>
    <p:sldId id="291" r:id="rId7"/>
    <p:sldId id="265" r:id="rId8"/>
    <p:sldId id="258" r:id="rId9"/>
    <p:sldId id="271" r:id="rId10"/>
    <p:sldId id="266" r:id="rId11"/>
    <p:sldId id="269" r:id="rId12"/>
    <p:sldId id="272" r:id="rId13"/>
    <p:sldId id="274" r:id="rId14"/>
    <p:sldId id="277" r:id="rId15"/>
    <p:sldId id="275" r:id="rId16"/>
    <p:sldId id="276" r:id="rId17"/>
    <p:sldId id="273" r:id="rId18"/>
    <p:sldId id="278" r:id="rId19"/>
    <p:sldId id="279" r:id="rId20"/>
    <p:sldId id="280" r:id="rId21"/>
    <p:sldId id="281" r:id="rId22"/>
    <p:sldId id="262" r:id="rId23"/>
    <p:sldId id="283" r:id="rId24"/>
    <p:sldId id="286" r:id="rId25"/>
    <p:sldId id="284" r:id="rId26"/>
    <p:sldId id="285" r:id="rId27"/>
    <p:sldId id="287" r:id="rId28"/>
    <p:sldId id="288" r:id="rId29"/>
    <p:sldId id="289" r:id="rId30"/>
    <p:sldId id="290" r:id="rId31"/>
    <p:sldId id="26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A-ANDREEA PETRESCU" initials="MAP" lastIdx="1" clrIdx="0">
    <p:extLst>
      <p:ext uri="{19B8F6BF-5375-455C-9EA6-DF929625EA0E}">
        <p15:presenceInfo xmlns:p15="http://schemas.microsoft.com/office/powerpoint/2012/main" userId="S::manuela.petrescu@ubbcluj.ro::c6bed5a4-d759-4788-af88-282274a951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08D7483C-93C1-42C7-B5EE-E4A233F7D77F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2D63DB7-EA36-43E0-B1F7-9C9A421416D1}" type="datetimeFigureOut">
              <a:rPr lang="en-GB" smtClean="0"/>
              <a:t>31/01/2024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052737"/>
            <a:ext cx="7543800" cy="2160240"/>
          </a:xfrm>
        </p:spPr>
        <p:txBody>
          <a:bodyPr/>
          <a:lstStyle/>
          <a:p>
            <a:r>
              <a:rPr lang="en-GB" sz="3200" b="0" i="0" dirty="0" err="1">
                <a:effectLst/>
              </a:rPr>
              <a:t>Tranzacti</a:t>
            </a:r>
            <a:r>
              <a:rPr lang="en-GB" sz="3200" dirty="0" err="1"/>
              <a:t>i</a:t>
            </a:r>
            <a:r>
              <a:rPr lang="en-GB" sz="3200" dirty="0"/>
              <a:t> </a:t>
            </a:r>
            <a:r>
              <a:rPr lang="en-GB" sz="3200" dirty="0" err="1"/>
              <a:t>si</a:t>
            </a:r>
            <a:r>
              <a:rPr lang="en-GB" sz="3200" dirty="0"/>
              <a:t> </a:t>
            </a:r>
            <a:r>
              <a:rPr lang="en-GB" sz="3200" dirty="0" err="1"/>
              <a:t>Controlul</a:t>
            </a:r>
            <a:r>
              <a:rPr lang="en-GB" sz="3200" dirty="0"/>
              <a:t> </a:t>
            </a:r>
            <a:r>
              <a:rPr lang="en-GB" sz="3200" dirty="0" err="1"/>
              <a:t>Concurentei</a:t>
            </a:r>
            <a:endParaRPr lang="en-GB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933056"/>
            <a:ext cx="6461760" cy="1066800"/>
          </a:xfrm>
        </p:spPr>
        <p:txBody>
          <a:bodyPr>
            <a:normAutofit/>
          </a:bodyPr>
          <a:lstStyle/>
          <a:p>
            <a:endParaRPr lang="ro-RO" dirty="0"/>
          </a:p>
        </p:txBody>
      </p:sp>
      <p:pic>
        <p:nvPicPr>
          <p:cNvPr id="6146" name="Picture 2" descr="Fișier:Logo Universitatea Babeș-Bolyai.svg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06" y="296712"/>
            <a:ext cx="187317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1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DB1F-568A-C803-EBF8-4EDA93F4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Discutii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81114-3049-DCA0-D0AB-DD4CCFAC6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Consistența în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BD</a:t>
            </a: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ACID </a:t>
            </a:r>
          </a:p>
          <a:p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Tranzactii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Planificari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ale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tranzactiilor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dirty="0" err="1">
                <a:solidFill>
                  <a:srgbClr val="374151"/>
                </a:solidFill>
                <a:latin typeface="Söhne"/>
              </a:rPr>
              <a:t>Tipuri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planificari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nomalii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concurenta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 err="1">
                <a:solidFill>
                  <a:srgbClr val="374151"/>
                </a:solidFill>
                <a:latin typeface="Söhne"/>
              </a:rPr>
              <a:t>Blocari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/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tipuri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blocari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Deadlock</a:t>
            </a:r>
          </a:p>
          <a:p>
            <a:r>
              <a:rPr lang="en-US" dirty="0" err="1">
                <a:solidFill>
                  <a:srgbClr val="374151"/>
                </a:solidFill>
                <a:latin typeface="Söhne"/>
              </a:rPr>
              <a:t>Metode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de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prevenire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si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solutionare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a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deadlockului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0749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DB1F-568A-C803-EBF8-4EDA93F4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Consistenta</a:t>
            </a:r>
            <a:r>
              <a:rPr lang="en-US" dirty="0"/>
              <a:t> in BD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81114-3049-DCA0-D0AB-DD4CCFAC6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Consistența în contextul bazelor de date se referă la asigurarea că datele dintr-o bază de date respectă toate restricțiile impuse de schema acesteia, iar modificările aduse în timpul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operatiillor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tranzactiilor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conduc la o stare validă și coerentă a bazei de date.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  <a:p>
            <a:r>
              <a:rPr lang="en-US" dirty="0">
                <a:solidFill>
                  <a:srgbClr val="374151"/>
                </a:solidFill>
                <a:latin typeface="Söhne"/>
              </a:rPr>
              <a:t>Site e-commerce</a:t>
            </a:r>
          </a:p>
          <a:p>
            <a:endParaRPr lang="ro-RO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11E9278-6A08-7D88-7678-700E7A6A6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4437112"/>
            <a:ext cx="762000" cy="952798"/>
          </a:xfrm>
          <a:prstGeom prst="can">
            <a:avLst>
              <a:gd name="adj" fmla="val 43128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B2A55-F70C-2E71-9C84-76B09CAD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92" y="4055958"/>
            <a:ext cx="1008112" cy="762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FCBC1-C124-CA00-D004-027FD8BE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725144"/>
            <a:ext cx="1008112" cy="762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5949A1-B3CD-2D17-57BB-9DCA13CE3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7" y="5389910"/>
            <a:ext cx="1008112" cy="762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2EE5B3-ED3E-DB54-60B3-820DE69FADD7}"/>
              </a:ext>
            </a:extLst>
          </p:cNvPr>
          <p:cNvSpPr txBox="1"/>
          <p:nvPr/>
        </p:nvSpPr>
        <p:spPr>
          <a:xfrm>
            <a:off x="457200" y="4725144"/>
            <a:ext cx="1597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HeadPhones</a:t>
            </a:r>
            <a:r>
              <a:rPr lang="en-US" sz="1100" dirty="0"/>
              <a:t> 2 pieces</a:t>
            </a:r>
            <a:endParaRPr lang="ro-RO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D7380A-0BE0-D64A-0C24-51C2016A327A}"/>
              </a:ext>
            </a:extLst>
          </p:cNvPr>
          <p:cNvCxnSpPr>
            <a:stCxn id="6" idx="1"/>
          </p:cNvCxnSpPr>
          <p:nvPr/>
        </p:nvCxnSpPr>
        <p:spPr>
          <a:xfrm flipH="1">
            <a:off x="2597696" y="4437112"/>
            <a:ext cx="1378496" cy="381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C95E18-C6E9-3695-E7EC-EF8D6975DE3C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627784" y="4941168"/>
            <a:ext cx="2520280" cy="165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D90996-18EC-4C9F-7627-D33EA1AC4BE8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578479" y="5216859"/>
            <a:ext cx="1417458" cy="554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70FAD3-8810-8914-EFC4-685091441D3C}"/>
              </a:ext>
            </a:extLst>
          </p:cNvPr>
          <p:cNvSpPr txBox="1"/>
          <p:nvPr/>
        </p:nvSpPr>
        <p:spPr>
          <a:xfrm rot="20880669">
            <a:off x="3112381" y="4024976"/>
            <a:ext cx="148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Cumpara</a:t>
            </a:r>
            <a:r>
              <a:rPr lang="en-US" sz="1200" dirty="0"/>
              <a:t> </a:t>
            </a:r>
            <a:r>
              <a:rPr lang="en-US" sz="1200" dirty="0" err="1"/>
              <a:t>HeadPhones</a:t>
            </a:r>
            <a:endParaRPr lang="ro-RO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C1055-109E-8766-96BD-95BFB5C721D7}"/>
              </a:ext>
            </a:extLst>
          </p:cNvPr>
          <p:cNvSpPr txBox="1"/>
          <p:nvPr/>
        </p:nvSpPr>
        <p:spPr>
          <a:xfrm rot="158859">
            <a:off x="3180732" y="4813437"/>
            <a:ext cx="2248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Cumpara</a:t>
            </a:r>
            <a:r>
              <a:rPr lang="en-US" sz="1200" dirty="0"/>
              <a:t> </a:t>
            </a:r>
            <a:r>
              <a:rPr lang="en-US" sz="1200" dirty="0" err="1"/>
              <a:t>HeadPhones</a:t>
            </a:r>
            <a:endParaRPr lang="ro-RO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629C3-9C0B-7A2F-64FB-2D4E4C50362A}"/>
              </a:ext>
            </a:extLst>
          </p:cNvPr>
          <p:cNvSpPr txBox="1"/>
          <p:nvPr/>
        </p:nvSpPr>
        <p:spPr>
          <a:xfrm rot="1258361">
            <a:off x="2832123" y="5324302"/>
            <a:ext cx="148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Cumpara</a:t>
            </a:r>
            <a:r>
              <a:rPr lang="en-US" sz="1200" dirty="0"/>
              <a:t> </a:t>
            </a:r>
            <a:r>
              <a:rPr lang="en-US" sz="1200" dirty="0" err="1"/>
              <a:t>HeadPhones</a:t>
            </a:r>
            <a:endParaRPr lang="ro-RO" sz="1200" dirty="0"/>
          </a:p>
        </p:txBody>
      </p:sp>
    </p:spTree>
    <p:extLst>
      <p:ext uri="{BB962C8B-B14F-4D97-AF65-F5344CB8AC3E}">
        <p14:creationId xmlns:p14="http://schemas.microsoft.com/office/powerpoint/2010/main" val="121656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ACID– reguli de </a:t>
            </a:r>
            <a:r>
              <a:rPr lang="en-US" dirty="0" err="1"/>
              <a:t>consistenta</a:t>
            </a:r>
            <a:r>
              <a:rPr lang="en-US" dirty="0"/>
              <a:t> BD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7620000" cy="4464496"/>
          </a:xfrm>
        </p:spPr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Atomicitate: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O tranzacție este atomică în sensul că toate acțiunile din cadrul ei sunt tratate ca o singură unitate indivizibilă. Fie toate acțiunile sunt realizate cu succes, fie niciuna dintre ele nu este realizată.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Consistență: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O tranzacție duce baza de date dintr-o stare validă în alta stare validă. Aceasta înseamnă că tranzacția respectă toate restricțiile și regulile impuse de schema bazei de date.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Izolare: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Tranzacțiile care rulează simultan sunt izolate una față de cealaltă. Efectele unei tranzacții nu sunt vizibile pentru celelalte tranzacții până când tranzacția este finalizată.</a:t>
            </a:r>
          </a:p>
          <a:p>
            <a:pPr algn="l">
              <a:buFont typeface="+mj-lt"/>
              <a:buAutoNum type="arabicPeriod"/>
            </a:pP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Durabilitate: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După ce o tranzacție este finalizată cu succes, schimbările aduse de aceasta în baza de date sunt permanente și vor supraviețui în ciuda eșecurilor ulterioare de sistem.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291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e o </a:t>
            </a:r>
            <a:r>
              <a:rPr lang="en-US" dirty="0" err="1"/>
              <a:t>tranzactie</a:t>
            </a:r>
            <a:r>
              <a:rPr lang="en-US" dirty="0"/>
              <a:t>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7620000" cy="5132040"/>
          </a:xfrm>
        </p:spPr>
        <p:txBody>
          <a:bodyPr/>
          <a:lstStyle/>
          <a:p>
            <a:endParaRPr lang="en-GB" dirty="0"/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 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tranzacție reprezintă o unitate logică de lucru care constă dintr-un set de operațiuni sau acțiuni asupra bazelor de date.</a:t>
            </a:r>
            <a:endParaRPr lang="en-GB" dirty="0"/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</a:t>
            </a:r>
            <a:r>
              <a:rPr lang="ro-RO" b="0" i="0" dirty="0" err="1">
                <a:solidFill>
                  <a:srgbClr val="374151"/>
                </a:solidFill>
                <a:effectLst/>
                <a:latin typeface="Söhne"/>
              </a:rPr>
              <a:t>rebuie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să respecte proprietățile ACID,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s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ă fie Atomică, Consistentă, Izolată și Durabilă</a:t>
            </a:r>
            <a:endParaRPr lang="en-GB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E8CA36D-018D-7BA7-A508-5215443A8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118" y="3933056"/>
            <a:ext cx="762000" cy="952798"/>
          </a:xfrm>
          <a:prstGeom prst="can">
            <a:avLst>
              <a:gd name="adj" fmla="val 43128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4BC1D-724E-DC93-138B-3B3A830B38D1}"/>
              </a:ext>
            </a:extLst>
          </p:cNvPr>
          <p:cNvSpPr txBox="1"/>
          <p:nvPr/>
        </p:nvSpPr>
        <p:spPr>
          <a:xfrm>
            <a:off x="1066800" y="5013176"/>
            <a:ext cx="138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Baza</a:t>
            </a:r>
            <a:r>
              <a:rPr lang="en-US" sz="1200" dirty="0"/>
              <a:t> de data in stare </a:t>
            </a:r>
            <a:r>
              <a:rPr lang="en-US" sz="1200" dirty="0" err="1"/>
              <a:t>consistenta</a:t>
            </a:r>
            <a:endParaRPr lang="ro-RO" sz="1200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FE92E86-5021-DCDA-31F7-6D2CA4083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3933056"/>
            <a:ext cx="762000" cy="952798"/>
          </a:xfrm>
          <a:prstGeom prst="can">
            <a:avLst>
              <a:gd name="adj" fmla="val 43128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A662C-D8E8-2022-581B-155A706BF2FB}"/>
              </a:ext>
            </a:extLst>
          </p:cNvPr>
          <p:cNvSpPr txBox="1"/>
          <p:nvPr/>
        </p:nvSpPr>
        <p:spPr>
          <a:xfrm>
            <a:off x="6341404" y="5013175"/>
            <a:ext cx="138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Baza</a:t>
            </a:r>
            <a:r>
              <a:rPr lang="en-US" sz="1200" dirty="0"/>
              <a:t> de data in stare </a:t>
            </a:r>
            <a:r>
              <a:rPr lang="en-US" sz="1200" dirty="0" err="1"/>
              <a:t>consistenta</a:t>
            </a:r>
            <a:endParaRPr lang="ro-RO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7B7356-4B7B-F35A-7ABB-EECBFFED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3717032"/>
            <a:ext cx="1514475" cy="12961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74595-B214-89E0-4640-79965DA8F661}"/>
              </a:ext>
            </a:extLst>
          </p:cNvPr>
          <p:cNvSpPr txBox="1"/>
          <p:nvPr/>
        </p:nvSpPr>
        <p:spPr>
          <a:xfrm>
            <a:off x="3629564" y="4992106"/>
            <a:ext cx="1662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Executia</a:t>
            </a:r>
            <a:r>
              <a:rPr lang="en-US" sz="1200" dirty="0"/>
              <a:t> </a:t>
            </a:r>
            <a:r>
              <a:rPr lang="en-US" sz="1200" dirty="0" err="1"/>
              <a:t>Tranzactiei</a:t>
            </a:r>
            <a:endParaRPr lang="ro-RO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42B046-D31F-C7DF-B290-1B6304243B71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453680" y="4365104"/>
            <a:ext cx="1110208" cy="14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45A999-6D28-F43B-03A6-0F069847942E}"/>
              </a:ext>
            </a:extLst>
          </p:cNvPr>
          <p:cNvCxnSpPr>
            <a:cxnSpLocks/>
          </p:cNvCxnSpPr>
          <p:nvPr/>
        </p:nvCxnSpPr>
        <p:spPr>
          <a:xfrm>
            <a:off x="5148064" y="4409455"/>
            <a:ext cx="1224136" cy="10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F41A21-3446-5BB4-1DAE-F8603BD54885}"/>
              </a:ext>
            </a:extLst>
          </p:cNvPr>
          <p:cNvSpPr txBox="1"/>
          <p:nvPr/>
        </p:nvSpPr>
        <p:spPr>
          <a:xfrm>
            <a:off x="2270051" y="4293096"/>
            <a:ext cx="666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Start</a:t>
            </a:r>
            <a:endParaRPr lang="ro-RO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984E52-9A5A-DE51-B84D-3FF38456F0F8}"/>
              </a:ext>
            </a:extLst>
          </p:cNvPr>
          <p:cNvSpPr txBox="1"/>
          <p:nvPr/>
        </p:nvSpPr>
        <p:spPr>
          <a:xfrm>
            <a:off x="5429200" y="4240096"/>
            <a:ext cx="873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Terminare</a:t>
            </a:r>
            <a:endParaRPr lang="ro-RO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0B24B9-0234-E800-C572-5B84A2B0C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253" y="5872654"/>
            <a:ext cx="1110208" cy="9501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8178381-9475-92D5-B313-3AF78691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560" y="5184484"/>
            <a:ext cx="1010098" cy="86447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581279-83BE-FCF8-181B-08A7133D6B5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453680" y="4581924"/>
            <a:ext cx="834573" cy="1765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48C923-2A98-FE14-E22B-9A22953CED2E}"/>
              </a:ext>
            </a:extLst>
          </p:cNvPr>
          <p:cNvCxnSpPr>
            <a:cxnSpLocks/>
            <a:stCxn id="26" idx="2"/>
            <a:endCxn id="30" idx="1"/>
          </p:cNvCxnSpPr>
          <p:nvPr/>
        </p:nvCxnSpPr>
        <p:spPr>
          <a:xfrm>
            <a:off x="2603150" y="4570095"/>
            <a:ext cx="1237410" cy="1046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AC6931-49F1-92F8-1ADF-6888683F2294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4850658" y="4581924"/>
            <a:ext cx="1490746" cy="103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6A9B21-61BA-B712-497C-5666F90A0EBA}"/>
              </a:ext>
            </a:extLst>
          </p:cNvPr>
          <p:cNvCxnSpPr>
            <a:cxnSpLocks/>
          </p:cNvCxnSpPr>
          <p:nvPr/>
        </p:nvCxnSpPr>
        <p:spPr>
          <a:xfrm flipV="1">
            <a:off x="4337577" y="4623740"/>
            <a:ext cx="2019225" cy="198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43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C7F0-DADE-A13E-25FD-3B5EA022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tranzactii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4457E-B5BF-37C8-D594-A9D9B7E72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Activă (</a:t>
            </a:r>
            <a:r>
              <a:rPr lang="ro-RO" b="1" i="0" dirty="0">
                <a:solidFill>
                  <a:srgbClr val="0070C0"/>
                </a:solidFill>
                <a:effectLst/>
                <a:latin typeface="Söhne"/>
              </a:rPr>
              <a:t>Active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Tranzacția este în curs de desfășurare. Procesul de executare nu s-a finalizat încă, iar operațiile tranzacționale sunt în curs de procesare.</a:t>
            </a:r>
          </a:p>
          <a:p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Executat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ă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Parțial (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Partially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Committed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Tranzacția a ajuns la sfârșitul procesului de execuție cu </a:t>
            </a:r>
            <a:r>
              <a:rPr lang="ro-RO" b="0" i="0" dirty="0" err="1">
                <a:solidFill>
                  <a:srgbClr val="374151"/>
                </a:solidFill>
                <a:effectLst/>
                <a:latin typeface="Söhne"/>
              </a:rPr>
              <a:t>success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datele modificate sunt pregătite să fie 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permanent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salvate în baza de date. 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Executat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ă (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Committed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Tranzacția a fost finalizată cu succes și toate modificările au fost confirmate. Datele actualizate au fost salvate în mod permanent în baza de date. 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Eșuată (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Failed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Tranzacția a eșuat din cauza unei erori în timpul execuției. O tranzacție eșuată trebuie să fie anulată sau să treacă printr-un proces de recuperare pentru a restabili coerența datelor.</a:t>
            </a:r>
          </a:p>
          <a:p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Anulată (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Aborted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/</a:t>
            </a:r>
            <a:r>
              <a:rPr lang="ro-RO" b="1" i="0" dirty="0" err="1">
                <a:solidFill>
                  <a:srgbClr val="0070C0"/>
                </a:solidFill>
                <a:effectLst/>
                <a:latin typeface="Söhne"/>
              </a:rPr>
              <a:t>Rolled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ro-RO" b="1" i="0" dirty="0">
                <a:solidFill>
                  <a:srgbClr val="0070C0"/>
                </a:solidFill>
                <a:effectLst/>
                <a:latin typeface="Söhne"/>
              </a:rPr>
              <a:t>Back</a:t>
            </a:r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Toate modificările făcute de tranzacție sunt retractate (</a:t>
            </a:r>
            <a:r>
              <a:rPr lang="ro-RO" b="0" i="0" dirty="0" err="1">
                <a:solidFill>
                  <a:srgbClr val="374151"/>
                </a:solidFill>
                <a:effectLst/>
                <a:latin typeface="Söhne"/>
              </a:rPr>
              <a:t>rollback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),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se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aduce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baza de date înapoi la starea inițială înainte de începerea tranzacției.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0708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Planificarea</a:t>
            </a:r>
            <a:r>
              <a:rPr lang="en-GB" dirty="0"/>
              <a:t> </a:t>
            </a:r>
            <a:r>
              <a:rPr lang="en-GB" dirty="0" err="1"/>
              <a:t>tranzactiilor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7620000" cy="5276056"/>
          </a:xfrm>
        </p:spPr>
        <p:txBody>
          <a:bodyPr>
            <a:normAutofit/>
          </a:bodyPr>
          <a:lstStyle/>
          <a:p>
            <a:r>
              <a:rPr lang="en-GB" dirty="0" err="1"/>
              <a:t>Instructiuni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tranzactii</a:t>
            </a:r>
            <a:r>
              <a:rPr lang="en-GB" dirty="0"/>
              <a:t> multiple cu </a:t>
            </a:r>
            <a:r>
              <a:rPr lang="en-GB" dirty="0" err="1"/>
              <a:t>pastrarea</a:t>
            </a:r>
            <a:r>
              <a:rPr lang="en-GB" dirty="0"/>
              <a:t> </a:t>
            </a:r>
            <a:r>
              <a:rPr lang="en-GB" dirty="0" err="1"/>
              <a:t>ordinii</a:t>
            </a:r>
            <a:r>
              <a:rPr lang="en-GB" dirty="0"/>
              <a:t> </a:t>
            </a:r>
            <a:r>
              <a:rPr lang="en-GB" dirty="0" err="1"/>
              <a:t>instructiunilor</a:t>
            </a:r>
            <a:r>
              <a:rPr lang="en-GB" dirty="0"/>
              <a:t> de :</a:t>
            </a:r>
          </a:p>
          <a:p>
            <a:pPr lvl="1"/>
            <a:r>
              <a:rPr lang="en-GB" dirty="0"/>
              <a:t>Read (R)</a:t>
            </a:r>
          </a:p>
          <a:p>
            <a:pPr lvl="1"/>
            <a:r>
              <a:rPr lang="en-GB" dirty="0"/>
              <a:t>Write (W)</a:t>
            </a:r>
          </a:p>
          <a:p>
            <a:pPr lvl="1"/>
            <a:r>
              <a:rPr lang="en-GB" dirty="0"/>
              <a:t>Abort (A)</a:t>
            </a:r>
          </a:p>
          <a:p>
            <a:pPr lvl="1"/>
            <a:r>
              <a:rPr lang="en-GB" dirty="0"/>
              <a:t>Commit (C)</a:t>
            </a:r>
          </a:p>
          <a:p>
            <a:pPr marL="114300" indent="0">
              <a:buNone/>
            </a:pPr>
            <a:endParaRPr lang="en-GB" dirty="0"/>
          </a:p>
          <a:p>
            <a:pPr marL="411480" lvl="1" indent="0">
              <a:buNone/>
            </a:pP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7C770E-1DBD-CC9B-0085-5F95BC8109B9}"/>
              </a:ext>
            </a:extLst>
          </p:cNvPr>
          <p:cNvSpPr/>
          <p:nvPr/>
        </p:nvSpPr>
        <p:spPr>
          <a:xfrm>
            <a:off x="562744" y="3859174"/>
            <a:ext cx="1008112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Tran1</a:t>
            </a:r>
            <a:endParaRPr lang="ro-RO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2688A1-7EB0-4D89-C119-C0B7A05122B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570856" y="4075198"/>
            <a:ext cx="455208" cy="1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A693C1-FC1E-A707-DD1E-9EA2D53F9A3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322208" y="4076831"/>
            <a:ext cx="391360" cy="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026B51-7400-5C4F-FD4D-E9C850CC104F}"/>
              </a:ext>
            </a:extLst>
          </p:cNvPr>
          <p:cNvSpPr/>
          <p:nvPr/>
        </p:nvSpPr>
        <p:spPr>
          <a:xfrm>
            <a:off x="2026064" y="3860807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Tran2</a:t>
            </a:r>
            <a:endParaRPr lang="ro-RO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759196-7D65-2125-D46F-51CBA68052E5}"/>
              </a:ext>
            </a:extLst>
          </p:cNvPr>
          <p:cNvSpPr/>
          <p:nvPr/>
        </p:nvSpPr>
        <p:spPr>
          <a:xfrm>
            <a:off x="3713568" y="3863979"/>
            <a:ext cx="1794536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Tran3</a:t>
            </a:r>
            <a:endParaRPr lang="ro-RO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0AF517-1F82-60D9-D2F5-A6FB624F7C72}"/>
              </a:ext>
            </a:extLst>
          </p:cNvPr>
          <p:cNvSpPr/>
          <p:nvPr/>
        </p:nvSpPr>
        <p:spPr>
          <a:xfrm>
            <a:off x="5899464" y="3859174"/>
            <a:ext cx="1008112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Tran4</a:t>
            </a:r>
            <a:endParaRPr lang="ro-RO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5EB9A6-9695-1602-6B25-CA20FDE80915}"/>
              </a:ext>
            </a:extLst>
          </p:cNvPr>
          <p:cNvSpPr/>
          <p:nvPr/>
        </p:nvSpPr>
        <p:spPr>
          <a:xfrm>
            <a:off x="562744" y="4853296"/>
            <a:ext cx="1008112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Tran1</a:t>
            </a:r>
            <a:endParaRPr lang="ro-RO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DD33AC-D432-3020-ECB2-47BFFC8D484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251392" y="4075198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99AFD8-AB32-E433-E192-F8AF6556BC4E}"/>
              </a:ext>
            </a:extLst>
          </p:cNvPr>
          <p:cNvSpPr/>
          <p:nvPr/>
        </p:nvSpPr>
        <p:spPr>
          <a:xfrm>
            <a:off x="1377992" y="5418834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Tran2</a:t>
            </a:r>
            <a:endParaRPr lang="ro-RO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7500C7-41BC-96BD-EAC8-6EE6FC78DEBA}"/>
              </a:ext>
            </a:extLst>
          </p:cNvPr>
          <p:cNvSpPr/>
          <p:nvPr/>
        </p:nvSpPr>
        <p:spPr>
          <a:xfrm>
            <a:off x="1096820" y="6091154"/>
            <a:ext cx="1858487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Tran3</a:t>
            </a:r>
            <a:endParaRPr lang="ro-RO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DCB6D0-CA03-F494-102A-845BBF59658A}"/>
              </a:ext>
            </a:extLst>
          </p:cNvPr>
          <p:cNvSpPr/>
          <p:nvPr/>
        </p:nvSpPr>
        <p:spPr>
          <a:xfrm>
            <a:off x="3415916" y="4853296"/>
            <a:ext cx="1008112" cy="4320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Tran4</a:t>
            </a:r>
            <a:endParaRPr lang="ro-RO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D8D019A-BB5A-658F-EFA6-4C41D2E8D40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570856" y="5069320"/>
            <a:ext cx="1827457" cy="104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E910A8B-78CC-463A-52FC-0953CB62B129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2674136" y="5069320"/>
            <a:ext cx="741780" cy="5655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0D13EEF-3856-4DD2-8BA5-8FE8AD7BCE82}"/>
              </a:ext>
            </a:extLst>
          </p:cNvPr>
          <p:cNvCxnSpPr>
            <a:cxnSpLocks/>
            <a:stCxn id="23" idx="3"/>
            <a:endCxn id="24" idx="2"/>
          </p:cNvCxnSpPr>
          <p:nvPr/>
        </p:nvCxnSpPr>
        <p:spPr>
          <a:xfrm flipV="1">
            <a:off x="2955307" y="5285344"/>
            <a:ext cx="964665" cy="10218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BBCEF0-5402-ACE5-1DC5-61C30CA68144}"/>
              </a:ext>
            </a:extLst>
          </p:cNvPr>
          <p:cNvCxnSpPr>
            <a:cxnSpLocks/>
          </p:cNvCxnSpPr>
          <p:nvPr/>
        </p:nvCxnSpPr>
        <p:spPr>
          <a:xfrm>
            <a:off x="462371" y="6669360"/>
            <a:ext cx="6773925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BDC65F-DC21-79C5-A0F6-2A51EAE34F0D}"/>
              </a:ext>
            </a:extLst>
          </p:cNvPr>
          <p:cNvSpPr txBox="1"/>
          <p:nvPr/>
        </p:nvSpPr>
        <p:spPr>
          <a:xfrm>
            <a:off x="5940152" y="63813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/ Cost</a:t>
            </a:r>
            <a:endParaRPr lang="ro-RO" dirty="0"/>
          </a:p>
        </p:txBody>
      </p:sp>
      <p:sp>
        <p:nvSpPr>
          <p:cNvPr id="40" name="Speech Bubble: Oval 39">
            <a:extLst>
              <a:ext uri="{FF2B5EF4-FFF2-40B4-BE49-F238E27FC236}">
                <a16:creationId xmlns:a16="http://schemas.microsoft.com/office/drawing/2014/main" id="{1D0749E3-92E0-0265-B4EC-9F3173FA2C2D}"/>
              </a:ext>
            </a:extLst>
          </p:cNvPr>
          <p:cNvSpPr/>
          <p:nvPr/>
        </p:nvSpPr>
        <p:spPr>
          <a:xfrm>
            <a:off x="7034684" y="3356993"/>
            <a:ext cx="1232264" cy="542490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  <a:p>
            <a:pPr algn="ctr"/>
            <a:endParaRPr lang="en-US" sz="1200" dirty="0">
              <a:solidFill>
                <a:srgbClr val="C00000"/>
              </a:solidFill>
            </a:endParaRPr>
          </a:p>
          <a:p>
            <a:pPr algn="ctr"/>
            <a:r>
              <a:rPr lang="en-US" sz="1200" dirty="0" err="1">
                <a:solidFill>
                  <a:srgbClr val="C00000"/>
                </a:solidFill>
              </a:rPr>
              <a:t>Planificare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  <a:r>
              <a:rPr lang="en-US" sz="1200" dirty="0" err="1">
                <a:solidFill>
                  <a:srgbClr val="C00000"/>
                </a:solidFill>
              </a:rPr>
              <a:t>seriala</a:t>
            </a:r>
            <a:endParaRPr lang="ro-RO" sz="1200" dirty="0">
              <a:solidFill>
                <a:srgbClr val="C00000"/>
              </a:solidFill>
            </a:endParaRPr>
          </a:p>
          <a:p>
            <a:pPr algn="ctr"/>
            <a:endParaRPr lang="ro-RO" dirty="0"/>
          </a:p>
        </p:txBody>
      </p:sp>
      <p:sp>
        <p:nvSpPr>
          <p:cNvPr id="44" name="Speech Bubble: Oval 43">
            <a:extLst>
              <a:ext uri="{FF2B5EF4-FFF2-40B4-BE49-F238E27FC236}">
                <a16:creationId xmlns:a16="http://schemas.microsoft.com/office/drawing/2014/main" id="{261FB405-B621-CEF1-5190-68AE34D0BA95}"/>
              </a:ext>
            </a:extLst>
          </p:cNvPr>
          <p:cNvSpPr/>
          <p:nvPr/>
        </p:nvSpPr>
        <p:spPr>
          <a:xfrm>
            <a:off x="7034684" y="5069320"/>
            <a:ext cx="1266668" cy="565538"/>
          </a:xfrm>
          <a:prstGeom prst="wedgeEllipse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  <a:p>
            <a:pPr algn="ctr"/>
            <a:endParaRPr lang="en-US" sz="1200" dirty="0">
              <a:solidFill>
                <a:srgbClr val="C00000"/>
              </a:solidFill>
            </a:endParaRPr>
          </a:p>
          <a:p>
            <a:pPr algn="ctr"/>
            <a:r>
              <a:rPr lang="en-US" sz="1200" dirty="0" err="1">
                <a:solidFill>
                  <a:srgbClr val="C00000"/>
                </a:solidFill>
              </a:rPr>
              <a:t>Planificare</a:t>
            </a:r>
            <a:r>
              <a:rPr lang="en-US" sz="1200" dirty="0">
                <a:solidFill>
                  <a:srgbClr val="C00000"/>
                </a:solidFill>
              </a:rPr>
              <a:t> non-</a:t>
            </a:r>
            <a:r>
              <a:rPr lang="en-US" sz="1200" dirty="0" err="1">
                <a:solidFill>
                  <a:srgbClr val="C00000"/>
                </a:solidFill>
              </a:rPr>
              <a:t>seriala</a:t>
            </a:r>
            <a:endParaRPr lang="ro-RO" sz="1200" dirty="0">
              <a:solidFill>
                <a:srgbClr val="C00000"/>
              </a:solidFill>
            </a:endParaRPr>
          </a:p>
          <a:p>
            <a:pPr algn="ctr"/>
            <a:endParaRPr lang="ro-RO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E46E0A9-8258-713A-75AD-633169E1CB68}"/>
              </a:ext>
            </a:extLst>
          </p:cNvPr>
          <p:cNvCxnSpPr>
            <a:stCxn id="11" idx="2"/>
            <a:endCxn id="22" idx="1"/>
          </p:cNvCxnSpPr>
          <p:nvPr/>
        </p:nvCxnSpPr>
        <p:spPr>
          <a:xfrm rot="16200000" flipH="1">
            <a:off x="1047639" y="5304505"/>
            <a:ext cx="349514" cy="3111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peech Bubble: Oval 55">
            <a:extLst>
              <a:ext uri="{FF2B5EF4-FFF2-40B4-BE49-F238E27FC236}">
                <a16:creationId xmlns:a16="http://schemas.microsoft.com/office/drawing/2014/main" id="{9C51C80D-9945-2308-FB97-E4953F7B04C2}"/>
              </a:ext>
            </a:extLst>
          </p:cNvPr>
          <p:cNvSpPr/>
          <p:nvPr/>
        </p:nvSpPr>
        <p:spPr>
          <a:xfrm>
            <a:off x="607095" y="5525616"/>
            <a:ext cx="489725" cy="359630"/>
          </a:xfrm>
          <a:prstGeom prst="wedgeEllipseCallout">
            <a:avLst>
              <a:gd name="adj1" fmla="val -11431"/>
              <a:gd name="adj2" fmla="val 1378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?</a:t>
            </a:r>
            <a:endParaRPr lang="ro-RO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37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Planificare seriala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620000" cy="4844008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Tran1: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 = 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 – a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write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commit</a:t>
            </a:r>
            <a:r>
              <a:rPr lang="ro-RO" dirty="0">
                <a:solidFill>
                  <a:srgbClr val="0070C0"/>
                </a:solidFill>
              </a:rPr>
              <a:t>			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			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Tran2: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read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	a = a -10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write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132F4-0528-9E21-4C8E-5BC5A7E24C2D}"/>
              </a:ext>
            </a:extLst>
          </p:cNvPr>
          <p:cNvSpPr txBox="1"/>
          <p:nvPr/>
        </p:nvSpPr>
        <p:spPr>
          <a:xfrm>
            <a:off x="5508104" y="2276872"/>
            <a:ext cx="23042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Planificare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seriala</a:t>
            </a:r>
            <a:r>
              <a:rPr lang="en-US" b="1" dirty="0">
                <a:solidFill>
                  <a:srgbClr val="0070C0"/>
                </a:solidFill>
              </a:rPr>
              <a:t>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este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planificarea</a:t>
            </a:r>
            <a:r>
              <a:rPr lang="en-US" dirty="0">
                <a:solidFill>
                  <a:srgbClr val="002060"/>
                </a:solidFill>
              </a:rPr>
              <a:t> care </a:t>
            </a:r>
            <a:r>
              <a:rPr lang="en-US" b="1" dirty="0">
                <a:solidFill>
                  <a:srgbClr val="002060"/>
                </a:solidFill>
              </a:rPr>
              <a:t>NU </a:t>
            </a:r>
            <a:r>
              <a:rPr lang="en-US" b="1" dirty="0" err="1">
                <a:solidFill>
                  <a:srgbClr val="002060"/>
                </a:solidFill>
              </a:rPr>
              <a:t>intercaleaza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actiuni</a:t>
            </a:r>
            <a:r>
              <a:rPr lang="en-US" dirty="0">
                <a:solidFill>
                  <a:srgbClr val="002060"/>
                </a:solidFill>
              </a:rPr>
              <a:t> ale </a:t>
            </a:r>
            <a:r>
              <a:rPr lang="en-US" dirty="0" err="1">
                <a:solidFill>
                  <a:srgbClr val="002060"/>
                </a:solidFill>
              </a:rPr>
              <a:t>mai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multor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tranzactii</a:t>
            </a:r>
            <a:endParaRPr lang="ro-RO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9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Planificare </a:t>
            </a:r>
            <a:r>
              <a:rPr lang="en-US" sz="3600" dirty="0"/>
              <a:t>non - </a:t>
            </a:r>
            <a:r>
              <a:rPr lang="ro-RO" sz="3600" dirty="0"/>
              <a:t>seriala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620000" cy="4844008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Tran1: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0070C0"/>
                </a:solidFill>
              </a:rPr>
              <a:t>		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Tran2: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read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a = a -10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write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			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  <a:p>
            <a:pPr marL="41148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Read</a:t>
            </a:r>
            <a:r>
              <a:rPr lang="ro-RO" dirty="0">
                <a:solidFill>
                  <a:srgbClr val="0070C0"/>
                </a:solidFill>
              </a:rPr>
              <a:t> (a)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 = 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 – a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write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ro-RO" dirty="0" err="1">
                <a:solidFill>
                  <a:srgbClr val="0070C0"/>
                </a:solidFill>
              </a:rPr>
              <a:t>dif</a:t>
            </a:r>
            <a:r>
              <a:rPr lang="ro-RO" dirty="0">
                <a:solidFill>
                  <a:srgbClr val="0070C0"/>
                </a:solidFill>
              </a:rPr>
              <a:t>)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</a:t>
            </a:r>
            <a:r>
              <a:rPr lang="ro-RO" dirty="0" err="1">
                <a:solidFill>
                  <a:srgbClr val="0070C0"/>
                </a:solidFill>
              </a:rPr>
              <a:t>commit</a:t>
            </a:r>
            <a:r>
              <a:rPr lang="ro-RO" dirty="0">
                <a:solidFill>
                  <a:srgbClr val="0070C0"/>
                </a:solidFill>
              </a:rPr>
              <a:t>			</a:t>
            </a:r>
          </a:p>
          <a:p>
            <a:pPr marL="411480" lvl="1" indent="0">
              <a:buNone/>
            </a:pPr>
            <a:r>
              <a:rPr lang="ro-RO" dirty="0">
                <a:solidFill>
                  <a:srgbClr val="0070C0"/>
                </a:solidFill>
              </a:rPr>
              <a:t>				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132F4-0528-9E21-4C8E-5BC5A7E24C2D}"/>
              </a:ext>
            </a:extLst>
          </p:cNvPr>
          <p:cNvSpPr txBox="1"/>
          <p:nvPr/>
        </p:nvSpPr>
        <p:spPr>
          <a:xfrm>
            <a:off x="5508104" y="1340768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Planificare</a:t>
            </a:r>
            <a:r>
              <a:rPr lang="en-US" b="1" dirty="0">
                <a:solidFill>
                  <a:srgbClr val="0070C0"/>
                </a:solidFill>
              </a:rPr>
              <a:t> non-</a:t>
            </a:r>
            <a:r>
              <a:rPr lang="en-US" b="1" dirty="0" err="1">
                <a:solidFill>
                  <a:srgbClr val="0070C0"/>
                </a:solidFill>
              </a:rPr>
              <a:t>seriala</a:t>
            </a:r>
            <a:r>
              <a:rPr lang="en-US" b="1" dirty="0">
                <a:solidFill>
                  <a:srgbClr val="0070C0"/>
                </a:solidFill>
              </a:rPr>
              <a:t>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este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planificarea</a:t>
            </a:r>
            <a:r>
              <a:rPr lang="en-US" dirty="0">
                <a:solidFill>
                  <a:srgbClr val="002060"/>
                </a:solidFill>
              </a:rPr>
              <a:t>  in care </a:t>
            </a:r>
          </a:p>
          <a:p>
            <a:r>
              <a:rPr lang="en-US" b="1" dirty="0">
                <a:solidFill>
                  <a:srgbClr val="002060"/>
                </a:solidFill>
              </a:rPr>
              <a:t>se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intercaleaza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actiuni</a:t>
            </a:r>
            <a:r>
              <a:rPr lang="en-US" dirty="0">
                <a:solidFill>
                  <a:srgbClr val="002060"/>
                </a:solidFill>
              </a:rPr>
              <a:t> ale </a:t>
            </a:r>
            <a:r>
              <a:rPr lang="en-US" dirty="0" err="1">
                <a:solidFill>
                  <a:srgbClr val="002060"/>
                </a:solidFill>
              </a:rPr>
              <a:t>mai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multor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tranzactii</a:t>
            </a:r>
            <a:endParaRPr lang="ro-RO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33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err="1"/>
              <a:t>Planificari</a:t>
            </a:r>
            <a:r>
              <a:rPr lang="en-GB" sz="3600" dirty="0"/>
              <a:t> </a:t>
            </a:r>
            <a:r>
              <a:rPr lang="en-GB" sz="3600" dirty="0" err="1"/>
              <a:t>echivalente</a:t>
            </a:r>
            <a:r>
              <a:rPr lang="en-GB" sz="3600" dirty="0"/>
              <a:t> ale </a:t>
            </a:r>
            <a:r>
              <a:rPr lang="en-GB" sz="3600" dirty="0" err="1"/>
              <a:t>tranzactiilor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Aceeasi</a:t>
            </a:r>
            <a:r>
              <a:rPr lang="en-US" dirty="0"/>
              <a:t> stare a </a:t>
            </a:r>
            <a:r>
              <a:rPr lang="en-US" dirty="0" err="1"/>
              <a:t>bazei</a:t>
            </a:r>
            <a:r>
              <a:rPr lang="en-US" dirty="0"/>
              <a:t> de date</a:t>
            </a:r>
          </a:p>
          <a:p>
            <a:pPr marL="11430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25FD4EB-F793-3B85-E148-238C3F1F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3981137"/>
            <a:ext cx="762000" cy="952798"/>
          </a:xfrm>
          <a:prstGeom prst="can">
            <a:avLst>
              <a:gd name="adj" fmla="val 43128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8DDACF2-305B-FD84-14FB-95F5C7E31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104" y="2852936"/>
            <a:ext cx="762000" cy="952798"/>
          </a:xfrm>
          <a:prstGeom prst="can">
            <a:avLst>
              <a:gd name="adj" fmla="val 43128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54873-76AF-25BA-3EEA-7955D35D5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5387">
            <a:off x="3586924" y="4573723"/>
            <a:ext cx="1360551" cy="1368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3F6611-6325-5DCB-CE14-EFABDADB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44748">
            <a:off x="2732815" y="2247347"/>
            <a:ext cx="1204448" cy="1211177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9E3EE15-B3CE-7EEE-5C6A-047B6327246A}"/>
              </a:ext>
            </a:extLst>
          </p:cNvPr>
          <p:cNvCxnSpPr>
            <a:stCxn id="4" idx="1"/>
          </p:cNvCxnSpPr>
          <p:nvPr/>
        </p:nvCxnSpPr>
        <p:spPr>
          <a:xfrm rot="5400000" flipH="1" flipV="1">
            <a:off x="1750128" y="2959465"/>
            <a:ext cx="984185" cy="10591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87CB3C9-BE40-B874-2F12-530919BE6292}"/>
              </a:ext>
            </a:extLst>
          </p:cNvPr>
          <p:cNvCxnSpPr>
            <a:cxnSpLocks/>
          </p:cNvCxnSpPr>
          <p:nvPr/>
        </p:nvCxnSpPr>
        <p:spPr>
          <a:xfrm>
            <a:off x="3843124" y="2983302"/>
            <a:ext cx="1632456" cy="3694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7FEA417-0CFA-5742-BED7-2235C71AEDC6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rot="16200000" flipH="1">
            <a:off x="2551161" y="4095413"/>
            <a:ext cx="204020" cy="18810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6770459-19CC-B176-948D-3E18700A00A9}"/>
              </a:ext>
            </a:extLst>
          </p:cNvPr>
          <p:cNvCxnSpPr>
            <a:cxnSpLocks/>
            <a:stCxn id="7" idx="0"/>
            <a:endCxn id="5" idx="3"/>
          </p:cNvCxnSpPr>
          <p:nvPr/>
        </p:nvCxnSpPr>
        <p:spPr>
          <a:xfrm flipV="1">
            <a:off x="4940696" y="3805734"/>
            <a:ext cx="948408" cy="15719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31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Planificarea</a:t>
            </a:r>
            <a:r>
              <a:rPr lang="en-GB" sz="3200" dirty="0"/>
              <a:t> </a:t>
            </a:r>
            <a:r>
              <a:rPr lang="en-GB" sz="3200" dirty="0" err="1"/>
              <a:t>tranzactiilor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/>
          </a:bodyPr>
          <a:lstStyle/>
          <a:p>
            <a:r>
              <a:rPr lang="en-GB" dirty="0" err="1"/>
              <a:t>Actiuni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b="1" dirty="0"/>
              <a:t>NU</a:t>
            </a:r>
            <a:r>
              <a:rPr lang="en-GB" dirty="0"/>
              <a:t> se pot </a:t>
            </a:r>
            <a:r>
              <a:rPr lang="en-GB" dirty="0" err="1"/>
              <a:t>interschimba</a:t>
            </a:r>
            <a:r>
              <a:rPr lang="en-GB" dirty="0"/>
              <a:t> </a:t>
            </a:r>
            <a:r>
              <a:rPr lang="en-GB" dirty="0" err="1"/>
              <a:t>intr</a:t>
            </a:r>
            <a:r>
              <a:rPr lang="en-GB" dirty="0"/>
              <a:t>-o </a:t>
            </a:r>
            <a:r>
              <a:rPr lang="en-GB" dirty="0" err="1"/>
              <a:t>planificare</a:t>
            </a:r>
            <a:r>
              <a:rPr lang="en-GB" dirty="0"/>
              <a:t>:</a:t>
            </a:r>
          </a:p>
          <a:p>
            <a:pPr lvl="1"/>
            <a:r>
              <a:rPr lang="en-US" dirty="0" err="1"/>
              <a:t>Acţiunile</a:t>
            </a:r>
            <a:r>
              <a:rPr lang="en-US" dirty="0"/>
              <a:t> </a:t>
            </a:r>
            <a:r>
              <a:rPr lang="en-US" dirty="0" err="1"/>
              <a:t>aparţinând</a:t>
            </a:r>
            <a:r>
              <a:rPr lang="en-US" dirty="0"/>
              <a:t> </a:t>
            </a:r>
            <a:r>
              <a:rPr lang="en-US" dirty="0" err="1"/>
              <a:t>aceleiaşi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lvl="1"/>
            <a:r>
              <a:rPr lang="en-US" dirty="0" err="1"/>
              <a:t>Acţiuni</a:t>
            </a:r>
            <a:r>
              <a:rPr lang="en-US" dirty="0"/>
              <a:t> </a:t>
            </a:r>
            <a:r>
              <a:rPr lang="en-US" dirty="0" err="1"/>
              <a:t>aplicate</a:t>
            </a:r>
            <a:r>
              <a:rPr lang="en-US" dirty="0"/>
              <a:t> de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tranzacţii</a:t>
            </a:r>
            <a:r>
              <a:rPr lang="en-US" dirty="0"/>
              <a:t> </a:t>
            </a:r>
            <a:r>
              <a:rPr lang="en-US" i="1" dirty="0" err="1"/>
              <a:t>aceluiaşi</a:t>
            </a:r>
            <a:r>
              <a:rPr lang="en-US" i="1" dirty="0"/>
              <a:t> </a:t>
            </a:r>
            <a:r>
              <a:rPr lang="en-US" i="1" dirty="0" err="1"/>
              <a:t>obiect</a:t>
            </a:r>
            <a:r>
              <a:rPr lang="en-US" i="1" dirty="0"/>
              <a:t>,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operaţie</a:t>
            </a:r>
            <a:r>
              <a:rPr lang="en-US" dirty="0"/>
              <a:t> de </a:t>
            </a:r>
            <a:r>
              <a:rPr lang="en-US" b="1" dirty="0"/>
              <a:t>write</a:t>
            </a:r>
            <a:r>
              <a:rPr lang="en-US" dirty="0"/>
              <a:t>. (</a:t>
            </a:r>
            <a:r>
              <a:rPr lang="en-US" i="1" dirty="0" err="1"/>
              <a:t>acţiuni</a:t>
            </a:r>
            <a:r>
              <a:rPr lang="en-US" i="1" dirty="0"/>
              <a:t> </a:t>
            </a:r>
            <a:r>
              <a:rPr lang="en-US" i="1" dirty="0" err="1"/>
              <a:t>conflictuale</a:t>
            </a:r>
            <a:r>
              <a:rPr lang="en-US" dirty="0"/>
              <a:t>!)</a:t>
            </a:r>
          </a:p>
          <a:p>
            <a:pPr lvl="1"/>
            <a:endParaRPr lang="en-US" dirty="0"/>
          </a:p>
          <a:p>
            <a:r>
              <a:rPr lang="en-US" b="1" dirty="0">
                <a:latin typeface="Söhne"/>
              </a:rPr>
              <a:t>A</a:t>
            </a:r>
            <a:r>
              <a:rPr lang="ro-RO" b="1" i="0" dirty="0" err="1">
                <a:effectLst/>
                <a:latin typeface="Söhne"/>
              </a:rPr>
              <a:t>cțiunile</a:t>
            </a:r>
            <a:r>
              <a:rPr lang="ro-RO" b="1" i="0" dirty="0">
                <a:effectLst/>
                <a:latin typeface="Söhne"/>
              </a:rPr>
              <a:t> conflictuale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-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două sau mai multe tranzacții încearcă să modifice aceeași resursă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/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dat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ă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/ 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set de resurse în același timp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Citire-scriere: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Apare atunci când o tranzacție încearcă să citească datele în timp ce o altă tranzacție încearcă să le modifice.</a:t>
            </a:r>
          </a:p>
          <a:p>
            <a:pPr lvl="1"/>
            <a:r>
              <a:rPr lang="ro-RO" b="1" i="0" dirty="0">
                <a:solidFill>
                  <a:srgbClr val="374151"/>
                </a:solidFill>
                <a:effectLst/>
                <a:latin typeface="Söhne"/>
              </a:rPr>
              <a:t>Scriere-scriere:</a:t>
            </a: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 Apare atunci când două tranzacții încearcă să modifice aceleași date.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9300" lvl="1" indent="-177800" eaLnBrk="1" hangingPunct="1"/>
            <a:endParaRPr lang="en-US" sz="2400" dirty="0"/>
          </a:p>
          <a:p>
            <a:pPr lvl="1"/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04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Planificarea</a:t>
            </a:r>
            <a:r>
              <a:rPr lang="en-GB" sz="3200" dirty="0"/>
              <a:t> </a:t>
            </a:r>
            <a:r>
              <a:rPr lang="en-GB" sz="3200" dirty="0" err="1"/>
              <a:t>tranzactiilor</a:t>
            </a:r>
            <a:r>
              <a:rPr lang="en-GB" sz="3200" dirty="0"/>
              <a:t> / </a:t>
            </a:r>
            <a:r>
              <a:rPr lang="en-GB" sz="3200" dirty="0" err="1"/>
              <a:t>Serializabilitate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/>
          </a:bodyPr>
          <a:lstStyle/>
          <a:p>
            <a:r>
              <a:rPr lang="en-US" dirty="0" err="1"/>
              <a:t>Planificarile</a:t>
            </a:r>
            <a:r>
              <a:rPr lang="en-US" dirty="0"/>
              <a:t> sunt </a:t>
            </a:r>
            <a:r>
              <a:rPr lang="en-US" b="1" dirty="0">
                <a:solidFill>
                  <a:srgbClr val="002060"/>
                </a:solidFill>
              </a:rPr>
              <a:t>conflict-</a:t>
            </a:r>
            <a:r>
              <a:rPr lang="en-US" b="1" dirty="0" err="1">
                <a:solidFill>
                  <a:srgbClr val="002060"/>
                </a:solidFill>
              </a:rPr>
              <a:t>echivalente</a:t>
            </a:r>
            <a:r>
              <a:rPr lang="en-US" b="1" dirty="0"/>
              <a:t> </a:t>
            </a:r>
            <a:r>
              <a:rPr lang="en-US" dirty="0" err="1"/>
              <a:t>daca</a:t>
            </a:r>
            <a:r>
              <a:rPr lang="en-US" dirty="0"/>
              <a:t>:</a:t>
            </a:r>
          </a:p>
          <a:p>
            <a:pPr marL="749300" lvl="1" indent="-177800" eaLnBrk="1" hangingPunct="1"/>
            <a:r>
              <a:rPr lang="en-US" dirty="0" err="1"/>
              <a:t>Implică</a:t>
            </a:r>
            <a:r>
              <a:rPr lang="en-US" dirty="0"/>
              <a:t> </a:t>
            </a:r>
            <a:r>
              <a:rPr lang="en-US" dirty="0" err="1"/>
              <a:t>acţiunile</a:t>
            </a:r>
            <a:r>
              <a:rPr lang="en-US" dirty="0"/>
              <a:t> </a:t>
            </a:r>
            <a:r>
              <a:rPr lang="en-US" dirty="0" err="1"/>
              <a:t>aceloraşi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pereche</a:t>
            </a:r>
            <a:r>
              <a:rPr lang="en-US" dirty="0"/>
              <a:t> de </a:t>
            </a:r>
            <a:r>
              <a:rPr lang="en-US" dirty="0" err="1"/>
              <a:t>acţiuni</a:t>
            </a:r>
            <a:r>
              <a:rPr lang="en-US" dirty="0"/>
              <a:t> </a:t>
            </a:r>
            <a:r>
              <a:rPr lang="en-US" dirty="0" err="1"/>
              <a:t>conflictuale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ordonată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acelaşi</a:t>
            </a:r>
            <a:r>
              <a:rPr lang="en-US" dirty="0"/>
              <a:t> mod</a:t>
            </a:r>
          </a:p>
          <a:p>
            <a:pPr lvl="1"/>
            <a:endParaRPr lang="en-US" dirty="0"/>
          </a:p>
          <a:p>
            <a:pPr marL="452120" indent="-177800"/>
            <a:r>
              <a:rPr lang="en-US" sz="2400" kern="0" dirty="0"/>
              <a:t>O </a:t>
            </a:r>
            <a:r>
              <a:rPr lang="en-US" sz="2400" kern="0" dirty="0" err="1"/>
              <a:t>planificare</a:t>
            </a:r>
            <a:r>
              <a:rPr lang="en-US" sz="2400" kern="0" dirty="0"/>
              <a:t> </a:t>
            </a:r>
            <a:r>
              <a:rPr lang="en-US" sz="2400" kern="0" dirty="0" err="1"/>
              <a:t>este</a:t>
            </a:r>
            <a:r>
              <a:rPr lang="en-US" sz="2400" kern="0" dirty="0"/>
              <a:t> </a:t>
            </a:r>
            <a:r>
              <a:rPr lang="en-US" sz="2400" b="1" kern="0" dirty="0">
                <a:solidFill>
                  <a:srgbClr val="002060"/>
                </a:solidFill>
              </a:rPr>
              <a:t>conflict </a:t>
            </a:r>
            <a:r>
              <a:rPr lang="en-US" sz="2400" b="1" kern="0" dirty="0" err="1">
                <a:solidFill>
                  <a:srgbClr val="002060"/>
                </a:solidFill>
              </a:rPr>
              <a:t>serializabil</a:t>
            </a:r>
            <a:r>
              <a:rPr lang="vi-VN" sz="2400" b="1" kern="0" dirty="0">
                <a:solidFill>
                  <a:srgbClr val="002060"/>
                </a:solidFill>
              </a:rPr>
              <a:t>ă</a:t>
            </a:r>
            <a:r>
              <a:rPr lang="en-US" sz="2400" b="1" kern="0" dirty="0">
                <a:solidFill>
                  <a:srgbClr val="002060"/>
                </a:solidFill>
              </a:rPr>
              <a:t> </a:t>
            </a:r>
            <a:r>
              <a:rPr lang="en-US" sz="2400" kern="0" dirty="0" err="1"/>
              <a:t>dac</a:t>
            </a:r>
            <a:r>
              <a:rPr lang="en-US" sz="2400" dirty="0" err="1"/>
              <a:t>ă</a:t>
            </a:r>
            <a:r>
              <a:rPr lang="en-US" sz="2400" kern="0" dirty="0"/>
              <a:t> e conflict </a:t>
            </a:r>
            <a:r>
              <a:rPr lang="en-US" sz="2400" kern="0" dirty="0" err="1"/>
              <a:t>echivalent</a:t>
            </a:r>
            <a:r>
              <a:rPr lang="en-US" sz="2400" dirty="0" err="1"/>
              <a:t>ă</a:t>
            </a:r>
            <a:r>
              <a:rPr lang="en-US" sz="2400" kern="0" dirty="0"/>
              <a:t> cu o </a:t>
            </a:r>
            <a:r>
              <a:rPr lang="en-US" sz="2400" kern="0" dirty="0" err="1"/>
              <a:t>planificare</a:t>
            </a:r>
            <a:r>
              <a:rPr lang="en-US" sz="2400" kern="0" dirty="0"/>
              <a:t> </a:t>
            </a:r>
            <a:r>
              <a:rPr lang="en-US" sz="2400" kern="0" dirty="0" err="1"/>
              <a:t>seriala</a:t>
            </a:r>
            <a:endParaRPr lang="en-US" sz="2400" dirty="0"/>
          </a:p>
          <a:p>
            <a:pPr marL="452120" indent="-177800"/>
            <a:endParaRPr lang="en-US" sz="2400" dirty="0"/>
          </a:p>
          <a:p>
            <a:pPr marL="452120" indent="-177800"/>
            <a:endParaRPr lang="en-US" sz="2400" dirty="0"/>
          </a:p>
          <a:p>
            <a:pPr lvl="1"/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075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1972-EEE4-627F-3E57-19A35BA1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Serializabilitate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38953-47BB-D86A-1DF8-48A92F0BD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Obiectivul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serializabilit</a:t>
            </a:r>
            <a:r>
              <a:rPr lang="vi-VN" sz="2000" b="1" dirty="0">
                <a:solidFill>
                  <a:srgbClr val="002060"/>
                </a:solidFill>
              </a:rPr>
              <a:t>ăţ</a:t>
            </a:r>
            <a:r>
              <a:rPr lang="en-US" sz="2000" b="1" dirty="0">
                <a:solidFill>
                  <a:srgbClr val="002060"/>
                </a:solidFill>
              </a:rPr>
              <a:t>ii </a:t>
            </a:r>
            <a:r>
              <a:rPr lang="en-US" sz="2000" dirty="0" err="1"/>
              <a:t>este</a:t>
            </a:r>
            <a:r>
              <a:rPr lang="en-US" sz="2000" dirty="0"/>
              <a:t> g</a:t>
            </a:r>
            <a:r>
              <a:rPr lang="vi-VN" sz="2000" dirty="0"/>
              <a:t>ă</a:t>
            </a:r>
            <a:r>
              <a:rPr lang="en-US" sz="2000" dirty="0" err="1"/>
              <a:t>sirea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planific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non-</a:t>
            </a:r>
            <a:r>
              <a:rPr lang="en-US" sz="2000" dirty="0" err="1"/>
              <a:t>seriale</a:t>
            </a:r>
            <a:r>
              <a:rPr lang="en-US" sz="2000" dirty="0"/>
              <a:t> care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execuţia</a:t>
            </a:r>
            <a:r>
              <a:rPr lang="en-US" sz="2000" dirty="0"/>
              <a:t> </a:t>
            </a:r>
            <a:r>
              <a:rPr lang="en-US" sz="2000" dirty="0" err="1"/>
              <a:t>concurent</a:t>
            </a:r>
            <a:r>
              <a:rPr lang="vi-VN" sz="2000" dirty="0"/>
              <a:t>ă </a:t>
            </a:r>
            <a:r>
              <a:rPr lang="en-US" sz="2000" dirty="0"/>
              <a:t>a </a:t>
            </a:r>
            <a:r>
              <a:rPr lang="en-US" sz="2000" dirty="0" err="1"/>
              <a:t>tranzactiilor</a:t>
            </a:r>
            <a:r>
              <a:rPr lang="en-US" sz="2000" dirty="0"/>
              <a:t> f</a:t>
            </a:r>
            <a:r>
              <a:rPr lang="vi-VN" sz="2000" dirty="0"/>
              <a:t>ă</a:t>
            </a:r>
            <a:r>
              <a:rPr lang="en-US" sz="2000" dirty="0"/>
              <a:t>r</a:t>
            </a:r>
            <a:r>
              <a:rPr lang="vi-VN" sz="2000" dirty="0"/>
              <a:t>ă</a:t>
            </a:r>
            <a:r>
              <a:rPr lang="en-US" sz="2000" dirty="0"/>
              <a:t> ca </a:t>
            </a:r>
            <a:r>
              <a:rPr lang="en-US" sz="2000" dirty="0" err="1"/>
              <a:t>acestea</a:t>
            </a:r>
            <a:r>
              <a:rPr lang="en-US" sz="2000" dirty="0"/>
              <a:t> s</a:t>
            </a:r>
            <a:r>
              <a:rPr lang="vi-VN" sz="2000" dirty="0"/>
              <a:t>ă </a:t>
            </a:r>
            <a:r>
              <a:rPr lang="en-US" sz="2000" dirty="0" err="1"/>
              <a:t>interfereze</a:t>
            </a:r>
            <a:r>
              <a:rPr lang="en-US" sz="2000" dirty="0"/>
              <a:t>,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astfel</a:t>
            </a:r>
            <a:r>
              <a:rPr lang="en-US" sz="2000" dirty="0"/>
              <a:t> s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conduc</a:t>
            </a:r>
            <a:r>
              <a:rPr lang="vi-VN" sz="2000" dirty="0"/>
              <a:t>ă</a:t>
            </a:r>
            <a:r>
              <a:rPr lang="en-US" sz="2000" dirty="0"/>
              <a:t> la o stare a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baze</a:t>
            </a:r>
            <a:r>
              <a:rPr lang="en-US" sz="2000" dirty="0"/>
              <a:t> de date la care se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ajunge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printr</a:t>
            </a:r>
            <a:r>
              <a:rPr lang="en-US" sz="2000" dirty="0"/>
              <a:t>-o </a:t>
            </a:r>
            <a:r>
              <a:rPr lang="en-US" sz="2000" dirty="0" err="1"/>
              <a:t>execuţie</a:t>
            </a:r>
            <a:r>
              <a:rPr lang="en-US" sz="2000" dirty="0"/>
              <a:t> serial</a:t>
            </a:r>
            <a:r>
              <a:rPr lang="vi-VN" sz="2000" dirty="0"/>
              <a:t>ă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 marL="114300" indent="0">
              <a:buNone/>
            </a:pPr>
            <a:endParaRPr lang="en-US" sz="2400" dirty="0"/>
          </a:p>
          <a:p>
            <a:r>
              <a:rPr lang="en-US" sz="2400" dirty="0" err="1"/>
              <a:t>Abordarea</a:t>
            </a:r>
            <a:r>
              <a:rPr lang="en-US" sz="2400" dirty="0"/>
              <a:t> DBMS </a:t>
            </a:r>
            <a:r>
              <a:rPr lang="en-US" sz="2400" dirty="0" err="1"/>
              <a:t>esta</a:t>
            </a:r>
            <a:r>
              <a:rPr lang="en-US" sz="2400" dirty="0"/>
              <a:t> s</a:t>
            </a:r>
            <a:r>
              <a:rPr lang="vi-VN" sz="2400" dirty="0"/>
              <a:t>ă </a:t>
            </a:r>
            <a:r>
              <a:rPr lang="en-US" sz="2400" dirty="0" err="1"/>
              <a:t>foloseasc</a:t>
            </a:r>
            <a:r>
              <a:rPr lang="vi-VN" sz="2400" dirty="0"/>
              <a:t>ă </a:t>
            </a:r>
            <a:r>
              <a:rPr lang="en-US" sz="2400" dirty="0" err="1"/>
              <a:t>protocoale</a:t>
            </a:r>
            <a:r>
              <a:rPr lang="en-US" sz="2400" dirty="0"/>
              <a:t> </a:t>
            </a:r>
            <a:r>
              <a:rPr lang="en-US" sz="2400" dirty="0" err="1"/>
              <a:t>specifice</a:t>
            </a:r>
            <a:r>
              <a:rPr lang="en-US" sz="2400" dirty="0"/>
              <a:t> care sunt </a:t>
            </a:r>
            <a:r>
              <a:rPr lang="en-US" sz="2400" dirty="0" err="1"/>
              <a:t>cunoscute</a:t>
            </a:r>
            <a:r>
              <a:rPr lang="en-US" sz="2400" dirty="0"/>
              <a:t> 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genereaz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planific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serializabile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033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5F5A-A132-1F0C-777E-47D31B06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planificari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3B1D-7061-9970-4196-51CA656BE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Planificari</a:t>
            </a:r>
            <a:r>
              <a:rPr lang="en-US" dirty="0"/>
              <a:t> ale </a:t>
            </a:r>
            <a:r>
              <a:rPr lang="en-US" dirty="0" err="1"/>
              <a:t>tranzactiilor</a:t>
            </a:r>
            <a:endParaRPr lang="en-US" dirty="0"/>
          </a:p>
          <a:p>
            <a:pPr lvl="1"/>
            <a:r>
              <a:rPr lang="en-US" dirty="0" err="1"/>
              <a:t>Planificari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endParaRPr lang="en-US" dirty="0"/>
          </a:p>
          <a:p>
            <a:pPr lvl="1"/>
            <a:r>
              <a:rPr lang="en-US" dirty="0" err="1"/>
              <a:t>Planificari</a:t>
            </a:r>
            <a:r>
              <a:rPr lang="en-US" dirty="0"/>
              <a:t> view-</a:t>
            </a:r>
            <a:r>
              <a:rPr lang="en-US" dirty="0" err="1"/>
              <a:t>serializabile</a:t>
            </a:r>
            <a:endParaRPr lang="en-US" dirty="0"/>
          </a:p>
          <a:p>
            <a:pPr lvl="1"/>
            <a:r>
              <a:rPr lang="en-US" dirty="0" err="1"/>
              <a:t>Planificari</a:t>
            </a:r>
            <a:r>
              <a:rPr lang="en-US" dirty="0"/>
              <a:t> conflict-</a:t>
            </a:r>
            <a:r>
              <a:rPr lang="en-US" dirty="0" err="1"/>
              <a:t>serializabile</a:t>
            </a:r>
            <a:endParaRPr lang="en-US" dirty="0"/>
          </a:p>
          <a:p>
            <a:pPr lvl="1"/>
            <a:r>
              <a:rPr lang="en-US" dirty="0" err="1"/>
              <a:t>Planificari</a:t>
            </a:r>
            <a:r>
              <a:rPr lang="en-US" dirty="0"/>
              <a:t> </a:t>
            </a:r>
            <a:r>
              <a:rPr lang="en-US" dirty="0" err="1"/>
              <a:t>seriale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5736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1E70-7020-BA38-1E46-C674BDFE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Planificari</a:t>
            </a:r>
            <a:r>
              <a:rPr lang="en-US" dirty="0"/>
              <a:t> view-</a:t>
            </a:r>
            <a:r>
              <a:rPr lang="en-US" dirty="0" err="1"/>
              <a:t>serializabile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16D5-3740-22A0-2C98-717FF963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87208" cy="4800600"/>
          </a:xfrm>
        </p:spPr>
        <p:txBody>
          <a:bodyPr/>
          <a:lstStyle/>
          <a:p>
            <a:r>
              <a:rPr lang="en-US" sz="1800" b="0" i="1" dirty="0">
                <a:solidFill>
                  <a:srgbClr val="374151"/>
                </a:solidFill>
                <a:effectLst/>
              </a:rPr>
              <a:t>S</a:t>
            </a:r>
            <a:r>
              <a:rPr lang="ro-RO" sz="1800" b="0" i="1" dirty="0">
                <a:solidFill>
                  <a:srgbClr val="374151"/>
                </a:solidFill>
                <a:effectLst/>
              </a:rPr>
              <a:t>e referă la capacitatea sistemului de gestionare a bazelor de date (SGBD) de a produce rezultate echivalente cu cele ale unei execuții seriale, chiar dacă tranzacțiile pot fi planificate și executate într-un mod concurent sau paralel.</a:t>
            </a:r>
            <a:r>
              <a:rPr lang="en-US" sz="1800" i="1" dirty="0"/>
              <a:t> </a:t>
            </a:r>
          </a:p>
          <a:p>
            <a:pPr marL="114300" indent="0">
              <a:buNone/>
            </a:pPr>
            <a:endParaRPr lang="en-US" sz="1800" i="1" dirty="0"/>
          </a:p>
          <a:p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/>
              <a:t>rile 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en-US" dirty="0"/>
              <a:t> sunt </a:t>
            </a:r>
            <a:r>
              <a:rPr lang="en-US" b="1" i="1" dirty="0">
                <a:solidFill>
                  <a:srgbClr val="002060"/>
                </a:solidFill>
              </a:rPr>
              <a:t>view</a:t>
            </a:r>
            <a:r>
              <a:rPr lang="ro-RO" b="1" dirty="0">
                <a:solidFill>
                  <a:srgbClr val="002060"/>
                </a:solidFill>
              </a:rPr>
              <a:t>-</a:t>
            </a:r>
            <a:r>
              <a:rPr lang="en-US" b="1" dirty="0" err="1">
                <a:solidFill>
                  <a:srgbClr val="002060"/>
                </a:solidFill>
              </a:rPr>
              <a:t>echivalente</a:t>
            </a:r>
            <a:r>
              <a:rPr lang="en-US" dirty="0"/>
              <a:t>: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citeşte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iniţial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de as</a:t>
            </a:r>
            <a:r>
              <a:rPr lang="ro-RO" sz="2400" dirty="0"/>
              <a:t>e</a:t>
            </a:r>
            <a:r>
              <a:rPr lang="en-US" sz="2400" dirty="0" err="1"/>
              <a:t>menea</a:t>
            </a:r>
            <a:r>
              <a:rPr lang="en-US" sz="2400" dirty="0"/>
              <a:t> </a:t>
            </a:r>
            <a:r>
              <a:rPr lang="en-US" sz="2400" dirty="0" err="1"/>
              <a:t>citeşte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iniţial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2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citeşte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en-US" sz="2400" dirty="0" err="1"/>
              <a:t>modificat</a:t>
            </a:r>
            <a:r>
              <a:rPr lang="ro-RO" sz="2400" dirty="0"/>
              <a:t>ă</a:t>
            </a:r>
            <a:r>
              <a:rPr lang="en-US" sz="2400" dirty="0"/>
              <a:t> de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de as</a:t>
            </a:r>
            <a:r>
              <a:rPr lang="ro-RO" sz="2400" dirty="0"/>
              <a:t>e</a:t>
            </a:r>
            <a:r>
              <a:rPr lang="en-US" sz="2400" dirty="0" err="1"/>
              <a:t>menea</a:t>
            </a:r>
            <a:r>
              <a:rPr lang="en-US" sz="2400" dirty="0"/>
              <a:t> </a:t>
            </a:r>
            <a:r>
              <a:rPr lang="en-US" sz="2400" dirty="0" err="1"/>
              <a:t>citeşte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en-US" sz="2400" dirty="0" err="1"/>
              <a:t>modificat</a:t>
            </a:r>
            <a:r>
              <a:rPr lang="ro-RO" sz="2400" dirty="0"/>
              <a:t>ă</a:t>
            </a:r>
            <a:r>
              <a:rPr lang="en-US" sz="2400" dirty="0"/>
              <a:t> de 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2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modific</a:t>
            </a:r>
            <a:r>
              <a:rPr lang="ro-RO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final</a:t>
            </a:r>
            <a:r>
              <a:rPr lang="ro-RO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T</a:t>
            </a:r>
            <a:r>
              <a:rPr lang="en-US" sz="2400" baseline="-25000" dirty="0"/>
              <a:t>i</a:t>
            </a:r>
            <a:r>
              <a:rPr lang="en-US" sz="2400" dirty="0"/>
              <a:t> de </a:t>
            </a:r>
            <a:r>
              <a:rPr lang="en-US" sz="2400" dirty="0" err="1"/>
              <a:t>asemenea</a:t>
            </a:r>
            <a:r>
              <a:rPr lang="en-US" sz="2400" dirty="0"/>
              <a:t> </a:t>
            </a:r>
            <a:r>
              <a:rPr lang="en-US" sz="2400" dirty="0" err="1"/>
              <a:t>modific</a:t>
            </a:r>
            <a:r>
              <a:rPr lang="ro-RO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final</a:t>
            </a:r>
            <a:r>
              <a:rPr lang="ro-RO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A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2</a:t>
            </a:r>
            <a:endParaRPr lang="en-US" sz="24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4647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EEFF-04D4-015F-D790-48AFB812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Planificari</a:t>
            </a:r>
            <a:r>
              <a:rPr lang="en-US" dirty="0"/>
              <a:t> view-</a:t>
            </a:r>
            <a:r>
              <a:rPr lang="en-US" dirty="0" err="1"/>
              <a:t>serializabile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E49DB-5C15-A338-65F4-3BE2C5E7A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61FEA-2591-4E8B-A997-1027AE434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30513"/>
            <a:ext cx="3456427" cy="101309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T1: R(A)	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7030A0"/>
                </a:solidFill>
              </a:rPr>
              <a:t>T2:	   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T3: 	                W(A)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B12712-B0C3-416C-A1C0-913E112CC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830513"/>
            <a:ext cx="3524200" cy="101309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488" tIns="44450" rIns="90488" bIns="4445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Arial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T1: R(A),W(A)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7030A0"/>
                </a:solidFill>
              </a:rPr>
              <a:t>T2:	            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T3:		         W(A)</a:t>
            </a:r>
          </a:p>
        </p:txBody>
      </p:sp>
    </p:spTree>
    <p:extLst>
      <p:ext uri="{BB962C8B-B14F-4D97-AF65-F5344CB8AC3E}">
        <p14:creationId xmlns:p14="http://schemas.microsoft.com/office/powerpoint/2010/main" val="423743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Planificari</a:t>
            </a:r>
            <a:r>
              <a:rPr lang="en-GB" sz="3200" dirty="0"/>
              <a:t> conflict- </a:t>
            </a:r>
            <a:r>
              <a:rPr lang="en-GB" sz="3200" dirty="0" err="1"/>
              <a:t>serializabile</a:t>
            </a:r>
            <a:r>
              <a:rPr lang="en-GB" sz="3200" dirty="0"/>
              <a:t>.</a:t>
            </a:r>
            <a:br>
              <a:rPr lang="en-GB" sz="3200" dirty="0"/>
            </a:br>
            <a:r>
              <a:rPr lang="en-GB" sz="3200" dirty="0"/>
              <a:t>Cum </a:t>
            </a:r>
            <a:r>
              <a:rPr lang="en-GB" sz="3200" dirty="0" err="1"/>
              <a:t>putem</a:t>
            </a:r>
            <a:r>
              <a:rPr lang="en-GB" sz="3200" dirty="0"/>
              <a:t> </a:t>
            </a:r>
            <a:r>
              <a:rPr lang="en-GB" sz="3200" dirty="0" err="1"/>
              <a:t>determina</a:t>
            </a:r>
            <a:r>
              <a:rPr lang="en-GB" sz="3200" dirty="0"/>
              <a:t> </a:t>
            </a:r>
            <a:r>
              <a:rPr lang="en-GB" sz="3200" dirty="0" err="1"/>
              <a:t>daca</a:t>
            </a:r>
            <a:r>
              <a:rPr lang="en-GB" sz="3200" dirty="0"/>
              <a:t> </a:t>
            </a:r>
            <a:r>
              <a:rPr lang="en-GB" sz="3200" dirty="0" err="1"/>
              <a:t>exista</a:t>
            </a:r>
            <a:r>
              <a:rPr lang="en-GB" sz="3200" dirty="0"/>
              <a:t> </a:t>
            </a:r>
            <a:r>
              <a:rPr lang="en-GB" sz="3200" dirty="0" err="1"/>
              <a:t>conflicte</a:t>
            </a:r>
            <a:r>
              <a:rPr lang="en-GB" sz="3200" dirty="0"/>
              <a:t>?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 err="1">
                <a:solidFill>
                  <a:srgbClr val="002060"/>
                </a:solidFill>
              </a:rPr>
              <a:t>Teoremă</a:t>
            </a:r>
            <a:r>
              <a:rPr lang="en-US" dirty="0"/>
              <a:t>: O </a:t>
            </a:r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conflict- </a:t>
            </a:r>
            <a:r>
              <a:rPr lang="en-US" dirty="0" err="1"/>
              <a:t>serializabilă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 </a:t>
            </a:r>
            <a:r>
              <a:rPr lang="en-US" dirty="0" err="1"/>
              <a:t>graful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de </a:t>
            </a:r>
            <a:r>
              <a:rPr lang="en-US" dirty="0" err="1"/>
              <a:t>precedendenţă</a:t>
            </a:r>
            <a:r>
              <a:rPr lang="en-US" dirty="0"/>
              <a:t> nu con</a:t>
            </a:r>
            <a:r>
              <a:rPr lang="ro-RO" dirty="0"/>
              <a:t>ț</a:t>
            </a:r>
            <a:r>
              <a:rPr lang="en-US" dirty="0" err="1"/>
              <a:t>ine</a:t>
            </a:r>
            <a:r>
              <a:rPr lang="en-US" dirty="0"/>
              <a:t> </a:t>
            </a:r>
            <a:r>
              <a:rPr lang="en-US" dirty="0" err="1"/>
              <a:t>circuite</a:t>
            </a:r>
            <a:endParaRPr lang="en-US" dirty="0"/>
          </a:p>
          <a:p>
            <a:endParaRPr lang="en-US" dirty="0"/>
          </a:p>
          <a:p>
            <a:r>
              <a:rPr lang="en-US" dirty="0"/>
              <a:t> Ce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b="1" dirty="0" err="1">
                <a:solidFill>
                  <a:srgbClr val="002060"/>
                </a:solidFill>
              </a:rPr>
              <a:t>graf</a:t>
            </a:r>
            <a:r>
              <a:rPr lang="en-US" b="1" dirty="0">
                <a:solidFill>
                  <a:srgbClr val="002060"/>
                </a:solidFill>
              </a:rPr>
              <a:t> de </a:t>
            </a:r>
            <a:r>
              <a:rPr lang="en-US" b="1" dirty="0" err="1">
                <a:solidFill>
                  <a:srgbClr val="002060"/>
                </a:solidFill>
              </a:rPr>
              <a:t>precedentă</a:t>
            </a:r>
            <a:r>
              <a:rPr lang="en-US" dirty="0"/>
              <a:t>?</a:t>
            </a:r>
          </a:p>
          <a:p>
            <a:pPr marL="749300" lvl="1" indent="-177800" eaLnBrk="1" hangingPunct="1"/>
            <a:r>
              <a:rPr lang="en-US" dirty="0"/>
              <a:t>Graf </a:t>
            </a:r>
            <a:r>
              <a:rPr lang="en-US" dirty="0" err="1"/>
              <a:t>orientat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Un nod per </a:t>
            </a:r>
            <a:r>
              <a:rPr lang="en-US" dirty="0" err="1"/>
              <a:t>tranzacţie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Arc </a:t>
            </a:r>
            <a:r>
              <a:rPr lang="en-US" dirty="0" err="1"/>
              <a:t>între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ro-RO" dirty="0"/>
              <a:t>o acțiune/operație de </a:t>
            </a:r>
            <a:r>
              <a:rPr lang="en-US" dirty="0" err="1"/>
              <a:t>cit</a:t>
            </a:r>
            <a:r>
              <a:rPr lang="ro-RO" dirty="0"/>
              <a:t>ir</a:t>
            </a:r>
            <a:r>
              <a:rPr lang="en-US" dirty="0"/>
              <a:t>e/</a:t>
            </a:r>
            <a:r>
              <a:rPr lang="en-US" dirty="0" err="1"/>
              <a:t>modific</a:t>
            </a:r>
            <a:r>
              <a:rPr lang="ro-RO" dirty="0"/>
              <a:t>are din</a:t>
            </a:r>
            <a:r>
              <a:rPr lang="vi-VN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ro-RO" dirty="0"/>
              <a:t>se realizează după o acțiune/operație conflictuală din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.</a:t>
            </a:r>
          </a:p>
          <a:p>
            <a:pPr marL="452120" indent="-177800"/>
            <a:endParaRPr lang="en-US" sz="2400" dirty="0"/>
          </a:p>
          <a:p>
            <a:pPr lvl="1"/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7600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1E70-7020-BA38-1E46-C674BDFE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serializabila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16D5-3740-22A0-2C98-717FF963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87208" cy="4800600"/>
          </a:xfrm>
        </p:spPr>
        <p:txBody>
          <a:bodyPr>
            <a:normAutofit lnSpcReduction="10000"/>
          </a:bodyPr>
          <a:lstStyle/>
          <a:p>
            <a:r>
              <a:rPr lang="en-US" altLang="en-US" sz="1800" dirty="0"/>
              <a:t>NU </a:t>
            </a:r>
            <a:r>
              <a:rPr lang="en-US" altLang="en-US" sz="1800" dirty="0" err="1"/>
              <a:t>este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nici</a:t>
            </a: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rgbClr val="002060"/>
                </a:solidFill>
              </a:rPr>
              <a:t>conflict-</a:t>
            </a:r>
            <a:r>
              <a:rPr lang="en-US" altLang="en-US" sz="1800" b="1" dirty="0" err="1">
                <a:solidFill>
                  <a:srgbClr val="002060"/>
                </a:solidFill>
              </a:rPr>
              <a:t>serializabil</a:t>
            </a:r>
            <a:r>
              <a:rPr lang="ro-RO" altLang="en-US" sz="1800" dirty="0">
                <a:solidFill>
                  <a:srgbClr val="002060"/>
                </a:solidFill>
              </a:rPr>
              <a:t>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nici</a:t>
            </a: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rgbClr val="002060"/>
                </a:solidFill>
              </a:rPr>
              <a:t>view</a:t>
            </a:r>
            <a:r>
              <a:rPr lang="ro-RO" altLang="en-US" sz="1800" dirty="0">
                <a:solidFill>
                  <a:srgbClr val="002060"/>
                </a:solidFill>
              </a:rPr>
              <a:t>-</a:t>
            </a:r>
            <a:r>
              <a:rPr lang="en-US" altLang="en-US" sz="1800" b="1" dirty="0" err="1">
                <a:solidFill>
                  <a:srgbClr val="002060"/>
                </a:solidFill>
              </a:rPr>
              <a:t>serializabil</a:t>
            </a:r>
            <a:r>
              <a:rPr lang="ro-RO" altLang="en-US" sz="1800" b="1" dirty="0">
                <a:solidFill>
                  <a:srgbClr val="002060"/>
                </a:solidFill>
              </a:rPr>
              <a:t>ă</a:t>
            </a:r>
            <a:r>
              <a:rPr lang="ro-RO" sz="1800" b="0" i="1" dirty="0">
                <a:solidFill>
                  <a:srgbClr val="374151"/>
                </a:solidFill>
                <a:effectLst/>
              </a:rPr>
              <a:t>.</a:t>
            </a:r>
            <a:r>
              <a:rPr lang="en-US" sz="1800" i="1" dirty="0"/>
              <a:t> </a:t>
            </a:r>
          </a:p>
          <a:p>
            <a:pPr marL="114300" indent="0">
              <a:buNone/>
            </a:pPr>
            <a:endParaRPr lang="en-US" sz="1800" i="1" dirty="0"/>
          </a:p>
          <a:p>
            <a:pPr marL="114300" indent="0">
              <a:buNone/>
            </a:pPr>
            <a:r>
              <a:rPr lang="en-US" sz="1600" dirty="0">
                <a:solidFill>
                  <a:srgbClr val="002060"/>
                </a:solidFill>
              </a:rPr>
              <a:t>Tran1:			</a:t>
            </a:r>
            <a:r>
              <a:rPr lang="en-US" sz="1600" dirty="0">
                <a:solidFill>
                  <a:srgbClr val="0070C0"/>
                </a:solidFill>
              </a:rPr>
              <a:t>Tran2: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read(a)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a = a-5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write(a)</a:t>
            </a:r>
          </a:p>
          <a:p>
            <a:pPr marL="114300" indent="0">
              <a:buNone/>
            </a:pPr>
            <a:r>
              <a:rPr lang="en-US" dirty="0"/>
              <a:t>			</a:t>
            </a:r>
            <a:r>
              <a:rPr lang="en-US" sz="1700" dirty="0">
                <a:solidFill>
                  <a:srgbClr val="0070C0"/>
                </a:solidFill>
              </a:rPr>
              <a:t>Read(b)</a:t>
            </a:r>
          </a:p>
          <a:p>
            <a:pPr marL="114300" indent="0">
              <a:buNone/>
            </a:pPr>
            <a:r>
              <a:rPr lang="en-US" sz="1700" dirty="0">
                <a:solidFill>
                  <a:srgbClr val="0070C0"/>
                </a:solidFill>
              </a:rPr>
              <a:t>			b= b+2</a:t>
            </a:r>
          </a:p>
          <a:p>
            <a:pPr marL="114300" indent="0">
              <a:buNone/>
            </a:pPr>
            <a:r>
              <a:rPr lang="en-US" sz="1700" dirty="0">
                <a:solidFill>
                  <a:srgbClr val="0070C0"/>
                </a:solidFill>
              </a:rPr>
              <a:t>			Write(b)</a:t>
            </a:r>
          </a:p>
          <a:p>
            <a:pPr marL="114300" indent="0">
              <a:buNone/>
            </a:pPr>
            <a:r>
              <a:rPr lang="en-US" sz="1700" dirty="0">
                <a:solidFill>
                  <a:srgbClr val="002060"/>
                </a:solidFill>
              </a:rPr>
              <a:t>Read(b)</a:t>
            </a:r>
          </a:p>
          <a:p>
            <a:pPr marL="114300" indent="0">
              <a:buNone/>
            </a:pPr>
            <a:r>
              <a:rPr lang="en-US" sz="1700" dirty="0">
                <a:solidFill>
                  <a:srgbClr val="002060"/>
                </a:solidFill>
              </a:rPr>
              <a:t>b= b+3</a:t>
            </a:r>
          </a:p>
          <a:p>
            <a:pPr marL="114300" indent="0">
              <a:buNone/>
            </a:pPr>
            <a:r>
              <a:rPr lang="en-US" sz="1700" dirty="0">
                <a:solidFill>
                  <a:srgbClr val="002060"/>
                </a:solidFill>
              </a:rPr>
              <a:t>Write(b)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2060"/>
                </a:solidFill>
              </a:rPr>
              <a:t>				</a:t>
            </a:r>
            <a:r>
              <a:rPr lang="en-US" altLang="en-US" sz="1700" dirty="0">
                <a:solidFill>
                  <a:srgbClr val="0070C0"/>
                </a:solidFill>
              </a:rPr>
              <a:t>read(a)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700" dirty="0">
                <a:solidFill>
                  <a:srgbClr val="0070C0"/>
                </a:solidFill>
              </a:rPr>
              <a:t>				a = a-5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700" dirty="0">
                <a:solidFill>
                  <a:srgbClr val="0070C0"/>
                </a:solidFill>
              </a:rPr>
              <a:t>				write(a)</a:t>
            </a:r>
          </a:p>
          <a:p>
            <a:pPr marL="114300" indent="0">
              <a:buNone/>
            </a:pPr>
            <a:r>
              <a:rPr lang="en-US" dirty="0"/>
              <a:t>	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5694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Anomalii</a:t>
            </a:r>
            <a:r>
              <a:rPr lang="en-GB" sz="3200" dirty="0"/>
              <a:t> de </a:t>
            </a:r>
            <a:r>
              <a:rPr lang="en-GB" sz="3200" dirty="0" err="1"/>
              <a:t>concurenta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0" i="0" dirty="0">
                <a:effectLst/>
              </a:rPr>
              <a:t>Ce sunt? </a:t>
            </a:r>
          </a:p>
          <a:p>
            <a:pPr lvl="1"/>
            <a:r>
              <a:rPr lang="en-US" dirty="0"/>
              <a:t>Sunt c</a:t>
            </a:r>
            <a:r>
              <a:rPr lang="ro-RO" b="0" i="0" dirty="0" err="1">
                <a:effectLst/>
              </a:rPr>
              <a:t>omportamente</a:t>
            </a:r>
            <a:r>
              <a:rPr lang="ro-RO" b="0" i="0" dirty="0">
                <a:effectLst/>
              </a:rPr>
              <a:t> nedorite care pot apărea </a:t>
            </a:r>
            <a:r>
              <a:rPr lang="en-US" b="0" i="0" dirty="0">
                <a:effectLst/>
              </a:rPr>
              <a:t>in </a:t>
            </a:r>
            <a:r>
              <a:rPr lang="ro-RO" b="0" i="0" dirty="0">
                <a:effectLst/>
              </a:rPr>
              <a:t>SGBD</a:t>
            </a:r>
            <a:r>
              <a:rPr lang="en-US" b="0" i="0" dirty="0">
                <a:effectLst/>
              </a:rPr>
              <a:t> </a:t>
            </a:r>
            <a:r>
              <a:rPr lang="ro-RO" b="0" i="0" dirty="0">
                <a:effectLst/>
              </a:rPr>
              <a:t>atunci când mai multe tranzacții rulează concurent. </a:t>
            </a:r>
            <a:endParaRPr lang="en-US" b="0" i="0" dirty="0">
              <a:effectLst/>
            </a:endParaRPr>
          </a:p>
          <a:p>
            <a:pPr lvl="1"/>
            <a:r>
              <a:rPr lang="en-US" dirty="0"/>
              <a:t>P</a:t>
            </a:r>
            <a:r>
              <a:rPr lang="ro-RO" b="0" i="0" dirty="0" err="1">
                <a:effectLst/>
              </a:rPr>
              <a:t>ot</a:t>
            </a:r>
            <a:r>
              <a:rPr lang="ro-RO" b="0" i="0" dirty="0">
                <a:effectLst/>
              </a:rPr>
              <a:t> afecta consistența și integritatea datelor.</a:t>
            </a:r>
            <a:endParaRPr lang="en-US" b="1" dirty="0"/>
          </a:p>
          <a:p>
            <a:r>
              <a:rPr lang="en-US" dirty="0"/>
              <a:t>Care sunt?</a:t>
            </a:r>
          </a:p>
          <a:p>
            <a:pPr lvl="1"/>
            <a:r>
              <a:rPr lang="en-US" altLang="en-US" sz="2000" dirty="0"/>
              <a:t>Reading Uncommitted Data </a:t>
            </a:r>
            <a:r>
              <a:rPr lang="ro-RO" dirty="0">
                <a:effectLst/>
              </a:rPr>
              <a:t>(</a:t>
            </a:r>
            <a:r>
              <a:rPr lang="ro-RO" dirty="0" err="1">
                <a:effectLst/>
              </a:rPr>
              <a:t>Dirty</a:t>
            </a:r>
            <a:r>
              <a:rPr lang="ro-RO" dirty="0">
                <a:effectLst/>
              </a:rPr>
              <a:t> </a:t>
            </a:r>
            <a:r>
              <a:rPr lang="ro-RO" dirty="0" err="1">
                <a:effectLst/>
              </a:rPr>
              <a:t>Read</a:t>
            </a:r>
            <a:r>
              <a:rPr lang="ro-RO" dirty="0">
                <a:effectLst/>
              </a:rPr>
              <a:t>)</a:t>
            </a:r>
            <a:endParaRPr lang="en-US" dirty="0">
              <a:effectLst/>
            </a:endParaRPr>
          </a:p>
          <a:p>
            <a:pPr lvl="1"/>
            <a:r>
              <a:rPr lang="en-US" altLang="en-US" sz="2000" dirty="0"/>
              <a:t>Overwriting Uncommitted Data </a:t>
            </a:r>
            <a:r>
              <a:rPr lang="ro-RO" dirty="0">
                <a:effectLst/>
              </a:rPr>
              <a:t>(</a:t>
            </a:r>
            <a:r>
              <a:rPr lang="ro-RO" dirty="0" err="1">
                <a:effectLst/>
              </a:rPr>
              <a:t>Lost</a:t>
            </a:r>
            <a:r>
              <a:rPr lang="ro-RO" dirty="0">
                <a:effectLst/>
              </a:rPr>
              <a:t> Update):</a:t>
            </a:r>
          </a:p>
          <a:p>
            <a:pPr lvl="1"/>
            <a:r>
              <a:rPr lang="en-US" altLang="en-US" sz="2200" dirty="0"/>
              <a:t>Unrepeatable Reads</a:t>
            </a:r>
            <a:r>
              <a:rPr lang="ro-RO" dirty="0">
                <a:effectLst/>
              </a:rPr>
              <a:t>(Non-</a:t>
            </a:r>
            <a:r>
              <a:rPr lang="ro-RO" dirty="0" err="1">
                <a:effectLst/>
              </a:rPr>
              <a:t>Repeatable</a:t>
            </a:r>
            <a:r>
              <a:rPr lang="ro-RO" dirty="0">
                <a:effectLst/>
              </a:rPr>
              <a:t> </a:t>
            </a:r>
            <a:r>
              <a:rPr lang="ro-RO" dirty="0" err="1">
                <a:effectLst/>
              </a:rPr>
              <a:t>Read</a:t>
            </a:r>
            <a:r>
              <a:rPr lang="ro-RO" dirty="0">
                <a:effectLst/>
              </a:rPr>
              <a:t>):</a:t>
            </a:r>
          </a:p>
          <a:p>
            <a:pPr lvl="1"/>
            <a:r>
              <a:rPr lang="ro-RO" dirty="0" err="1">
                <a:effectLst/>
              </a:rPr>
              <a:t>Phantom</a:t>
            </a:r>
            <a:r>
              <a:rPr lang="ro-RO" dirty="0">
                <a:effectLst/>
              </a:rPr>
              <a:t> </a:t>
            </a:r>
            <a:r>
              <a:rPr lang="ro-RO" dirty="0" err="1">
                <a:effectLst/>
              </a:rPr>
              <a:t>Read</a:t>
            </a:r>
            <a:r>
              <a:rPr lang="en-US" dirty="0"/>
              <a:t>s</a:t>
            </a:r>
            <a:endParaRPr lang="ro-RO" dirty="0">
              <a:effectLst/>
            </a:endParaRPr>
          </a:p>
          <a:p>
            <a:pPr lvl="1"/>
            <a:r>
              <a:rPr lang="ro-RO" dirty="0">
                <a:effectLst/>
              </a:rPr>
              <a:t>Problemele de </a:t>
            </a:r>
            <a:r>
              <a:rPr lang="ro-RO" dirty="0" err="1">
                <a:effectLst/>
              </a:rPr>
              <a:t>serializare</a:t>
            </a:r>
            <a:r>
              <a:rPr lang="en-US" dirty="0">
                <a:effectLst/>
              </a:rPr>
              <a:t>/ </a:t>
            </a:r>
            <a:r>
              <a:rPr lang="en-US" dirty="0" err="1">
                <a:effectLst/>
              </a:rPr>
              <a:t>planificare</a:t>
            </a:r>
            <a:endParaRPr lang="ro-RO" dirty="0">
              <a:effectLst/>
            </a:endParaRPr>
          </a:p>
          <a:p>
            <a:pPr marL="452120" indent="-177800"/>
            <a:endParaRPr lang="en-US" sz="2400" dirty="0"/>
          </a:p>
          <a:p>
            <a:pPr lvl="1"/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667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Anomalii</a:t>
            </a:r>
            <a:r>
              <a:rPr lang="en-GB" sz="3200" dirty="0"/>
              <a:t> de </a:t>
            </a:r>
            <a:r>
              <a:rPr lang="en-GB" sz="3200" dirty="0" err="1"/>
              <a:t>concurenta</a:t>
            </a:r>
            <a:r>
              <a:rPr lang="en-GB" sz="3200" dirty="0"/>
              <a:t> - </a:t>
            </a:r>
            <a:r>
              <a:rPr lang="en-GB" sz="3200" dirty="0" err="1"/>
              <a:t>detalii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/>
          </a:bodyPr>
          <a:lstStyle/>
          <a:p>
            <a:pPr marL="228600"/>
            <a:r>
              <a:rPr lang="en-US" altLang="en-US" sz="2000" i="1" dirty="0"/>
              <a:t>Reading Uncommitted Data</a:t>
            </a:r>
            <a:r>
              <a:rPr lang="en-US" altLang="en-US" sz="2000" dirty="0"/>
              <a:t> (conflict WR, “</a:t>
            </a:r>
            <a:r>
              <a:rPr lang="en-US" altLang="en-US" sz="2000" i="1" dirty="0"/>
              <a:t>dirty reads</a:t>
            </a:r>
            <a:r>
              <a:rPr lang="en-US" altLang="en-US" sz="2000" dirty="0"/>
              <a:t>”). </a:t>
            </a:r>
          </a:p>
          <a:p>
            <a:pPr marL="525780" lvl="1"/>
            <a:r>
              <a:rPr lang="ro-RO" sz="1400" b="0" i="0" dirty="0">
                <a:solidFill>
                  <a:srgbClr val="374151"/>
                </a:solidFill>
                <a:effectLst/>
                <a:latin typeface="Söhne"/>
              </a:rPr>
              <a:t>O tranzacție citește o valoare care este modificată ulterior de o altă tranzacție care este, eventual, anulată.</a:t>
            </a:r>
          </a:p>
          <a:p>
            <a:pPr marL="0" indent="0" eaLnBrk="1" hangingPunct="1">
              <a:buNone/>
            </a:pPr>
            <a:r>
              <a:rPr lang="en-US" altLang="en-US" sz="2000" dirty="0">
                <a:solidFill>
                  <a:schemeClr val="hlink"/>
                </a:solidFill>
              </a:rPr>
              <a:t>   </a:t>
            </a:r>
            <a:r>
              <a:rPr lang="en-US" altLang="en-US" sz="2000" dirty="0">
                <a:solidFill>
                  <a:schemeClr val="tx1"/>
                </a:solidFill>
              </a:rPr>
              <a:t>Tran1: 	R(A), W(A),   	               R(B), W(B), </a:t>
            </a:r>
            <a:r>
              <a:rPr lang="en-US" altLang="en-US" sz="2000" b="1" dirty="0">
                <a:solidFill>
                  <a:srgbClr val="0070C0"/>
                </a:solidFill>
              </a:rPr>
              <a:t>Abort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000" dirty="0"/>
              <a:t>   </a:t>
            </a:r>
            <a:r>
              <a:rPr lang="en-US" altLang="en-US" sz="2000" dirty="0">
                <a:solidFill>
                  <a:schemeClr val="tx1"/>
                </a:solidFill>
              </a:rPr>
              <a:t>Tran2:			R(A), W(A), </a:t>
            </a:r>
            <a:r>
              <a:rPr lang="en-US" altLang="en-US" sz="2000" b="1" dirty="0">
                <a:solidFill>
                  <a:srgbClr val="0070C0"/>
                </a:solidFill>
              </a:rPr>
              <a:t>Commit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9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400" dirty="0"/>
              <a:t> </a:t>
            </a:r>
            <a:r>
              <a:rPr lang="en-US" altLang="en-US" sz="2000" i="1" dirty="0"/>
              <a:t>Unrepeatable Reads</a:t>
            </a:r>
            <a:r>
              <a:rPr lang="en-US" altLang="en-US" sz="2000" dirty="0"/>
              <a:t> (conflict RW).</a:t>
            </a:r>
          </a:p>
          <a:p>
            <a:pPr marL="525780" lvl="1"/>
            <a:r>
              <a:rPr lang="ro-RO" sz="1400" b="0" i="0" dirty="0">
                <a:solidFill>
                  <a:srgbClr val="374151"/>
                </a:solidFill>
                <a:effectLst/>
                <a:latin typeface="Söhne"/>
              </a:rPr>
              <a:t>O tranzacție citește aceeași valoare de mai multe ori și obține rezultate diferite, deoarece alte tranzacții au modificat valoarea între citiri</a:t>
            </a:r>
            <a:endParaRPr lang="en-US" altLang="en-US" sz="1800" dirty="0"/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900" dirty="0">
              <a:solidFill>
                <a:schemeClr val="hlink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solidFill>
                  <a:schemeClr val="hlink"/>
                </a:solidFill>
              </a:rPr>
              <a:t>	</a:t>
            </a:r>
            <a:r>
              <a:rPr lang="en-US" altLang="en-US" sz="2000" dirty="0">
                <a:solidFill>
                  <a:schemeClr val="tx1"/>
                </a:solidFill>
              </a:rPr>
              <a:t>Tran1:	R(A),  		     	   R(A), W(A), </a:t>
            </a:r>
            <a:r>
              <a:rPr lang="en-US" altLang="en-US" sz="2000" b="1" dirty="0">
                <a:solidFill>
                  <a:srgbClr val="0070C0"/>
                </a:solidFill>
              </a:rPr>
              <a:t>Commit</a:t>
            </a:r>
            <a:endParaRPr lang="en-US" altLang="en-US" sz="2000" b="1" dirty="0">
              <a:solidFill>
                <a:srgbClr val="C00000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Tran2:		R(A), W(A), </a:t>
            </a:r>
            <a:r>
              <a:rPr lang="en-US" altLang="en-US" sz="2000" b="1" dirty="0">
                <a:solidFill>
                  <a:srgbClr val="0070C0"/>
                </a:solidFill>
              </a:rPr>
              <a:t>Commit</a:t>
            </a:r>
            <a:endParaRPr lang="en-US" altLang="en-US" sz="2000" b="1" dirty="0">
              <a:solidFill>
                <a:srgbClr val="C00000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9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000" i="1" dirty="0"/>
              <a:t> Overwriting Uncommitted Data</a:t>
            </a:r>
            <a:r>
              <a:rPr lang="en-US" altLang="en-US" sz="2000" dirty="0"/>
              <a:t> (Conflict WW, “</a:t>
            </a:r>
            <a:r>
              <a:rPr lang="en-US" altLang="en-US" sz="2000" i="1" dirty="0"/>
              <a:t>blind writes</a:t>
            </a:r>
            <a:r>
              <a:rPr lang="en-US" altLang="en-US" sz="2000" dirty="0"/>
              <a:t>”).</a:t>
            </a:r>
          </a:p>
          <a:p>
            <a:pPr marL="525780" lvl="1"/>
            <a:r>
              <a:rPr lang="ro-RO" sz="1400" b="0" i="0" dirty="0">
                <a:solidFill>
                  <a:srgbClr val="374151"/>
                </a:solidFill>
                <a:effectLst/>
                <a:latin typeface="Söhne"/>
              </a:rPr>
              <a:t>O tranzacție suprascrie o valoare modificată de o altă tranzacție, care încă nu și-a finalizat sau confirmat modificările.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9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Tran1:	W(A),  		    W(B), </a:t>
            </a:r>
            <a:r>
              <a:rPr lang="en-US" altLang="en-US" sz="2000" b="1" dirty="0">
                <a:solidFill>
                  <a:srgbClr val="0070C0"/>
                </a:solidFill>
              </a:rPr>
              <a:t>Commit</a:t>
            </a:r>
            <a:endParaRPr lang="en-US" altLang="en-US" sz="2000" b="1" dirty="0">
              <a:solidFill>
                <a:srgbClr val="C00000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Tran2:		W(A), W(B), </a:t>
            </a:r>
            <a:r>
              <a:rPr lang="en-US" altLang="en-US" sz="2000" b="1" dirty="0">
                <a:solidFill>
                  <a:srgbClr val="0070C0"/>
                </a:solidFill>
              </a:rPr>
              <a:t>Commit</a:t>
            </a:r>
            <a:endParaRPr lang="en-US" altLang="en-US" sz="2000" b="1" dirty="0">
              <a:solidFill>
                <a:srgbClr val="C00000"/>
              </a:solidFill>
            </a:endParaRPr>
          </a:p>
          <a:p>
            <a:pPr marL="452120" indent="-177800"/>
            <a:endParaRPr lang="en-US" sz="2400" dirty="0"/>
          </a:p>
          <a:p>
            <a:pPr lvl="1"/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2951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err="1"/>
              <a:t>Anomalii</a:t>
            </a:r>
            <a:r>
              <a:rPr lang="en-GB" sz="3200" dirty="0"/>
              <a:t> de </a:t>
            </a:r>
            <a:r>
              <a:rPr lang="en-GB" sz="3200" dirty="0" err="1"/>
              <a:t>concurenta</a:t>
            </a:r>
            <a:r>
              <a:rPr lang="en-GB" sz="3200" dirty="0"/>
              <a:t> - </a:t>
            </a:r>
            <a:r>
              <a:rPr lang="en-GB" sz="3200" dirty="0" err="1"/>
              <a:t>detalii</a:t>
            </a:r>
            <a:endParaRPr lang="en-GB" sz="3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84" y="1484784"/>
            <a:ext cx="7620000" cy="5448672"/>
          </a:xfrm>
        </p:spPr>
        <p:txBody>
          <a:bodyPr>
            <a:normAutofit fontScale="92500"/>
          </a:bodyPr>
          <a:lstStyle/>
          <a:p>
            <a:pPr marL="228600"/>
            <a:r>
              <a:rPr lang="en-US" altLang="en-US" sz="3200" i="1" dirty="0"/>
              <a:t>Phantom reads</a:t>
            </a:r>
          </a:p>
          <a:p>
            <a:pPr marL="525780" lvl="1"/>
            <a:r>
              <a:rPr lang="en-US" sz="2400" dirty="0"/>
              <a:t>O </a:t>
            </a:r>
            <a:r>
              <a:rPr lang="en-US" sz="2400" dirty="0" err="1"/>
              <a:t>tranzacţie</a:t>
            </a:r>
            <a:r>
              <a:rPr lang="en-US" sz="2400" dirty="0"/>
              <a:t> re-</a:t>
            </a:r>
            <a:r>
              <a:rPr lang="en-US" sz="2400" dirty="0" err="1"/>
              <a:t>executa</a:t>
            </a:r>
            <a:r>
              <a:rPr lang="en-US" sz="2400" dirty="0"/>
              <a:t> o </a:t>
            </a:r>
            <a:r>
              <a:rPr lang="en-US" sz="2400" dirty="0" err="1"/>
              <a:t>interogare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primeste</a:t>
            </a:r>
            <a:r>
              <a:rPr lang="en-US" sz="2400" dirty="0"/>
              <a:t> date </a:t>
            </a:r>
            <a:r>
              <a:rPr lang="en-US" sz="2400" dirty="0" err="1"/>
              <a:t>diferite</a:t>
            </a:r>
            <a:r>
              <a:rPr lang="en-US" sz="2400" dirty="0"/>
              <a:t> </a:t>
            </a:r>
            <a:r>
              <a:rPr lang="ro-RO" sz="2400" b="0" i="0" dirty="0">
                <a:effectLst/>
              </a:rPr>
              <a:t>între două execuții ale aceleiași instrucțiuni de citire</a:t>
            </a:r>
            <a:r>
              <a:rPr lang="en-US" sz="2400" b="0" i="0" dirty="0">
                <a:effectLst/>
              </a:rPr>
              <a:t> (</a:t>
            </a:r>
            <a:r>
              <a:rPr lang="en-US" sz="2400" dirty="0"/>
              <a:t>alt</a:t>
            </a:r>
            <a:r>
              <a:rPr lang="vi-VN" sz="2400" dirty="0"/>
              <a:t>ă </a:t>
            </a:r>
            <a:r>
              <a:rPr lang="en-US" sz="2400" dirty="0" err="1"/>
              <a:t>tranzacţie</a:t>
            </a:r>
            <a:r>
              <a:rPr lang="en-US" sz="2400" dirty="0"/>
              <a:t> </a:t>
            </a:r>
            <a:r>
              <a:rPr lang="en-US" sz="2400" dirty="0" err="1"/>
              <a:t>comis</a:t>
            </a:r>
            <a:r>
              <a:rPr lang="vi-VN" sz="2400" dirty="0"/>
              <a:t>ă </a:t>
            </a:r>
            <a:r>
              <a:rPr lang="en-US" sz="2400" dirty="0"/>
              <a:t>a </a:t>
            </a:r>
            <a:r>
              <a:rPr lang="en-US" sz="2400" dirty="0" err="1"/>
              <a:t>inserat</a:t>
            </a:r>
            <a:r>
              <a:rPr lang="en-US" sz="2400" dirty="0"/>
              <a:t> </a:t>
            </a:r>
            <a:r>
              <a:rPr lang="en-US" sz="2400" dirty="0" err="1"/>
              <a:t>înregistrari</a:t>
            </a:r>
            <a:r>
              <a:rPr lang="en-US" sz="2400" dirty="0"/>
              <a:t> </a:t>
            </a:r>
            <a:r>
              <a:rPr lang="en-US" sz="2400" dirty="0" err="1"/>
              <a:t>adiţionale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satisfac</a:t>
            </a:r>
            <a:r>
              <a:rPr lang="en-US" sz="2400" dirty="0"/>
              <a:t> </a:t>
            </a:r>
            <a:r>
              <a:rPr lang="en-US" sz="2400" dirty="0" err="1"/>
              <a:t>condiţiile</a:t>
            </a:r>
            <a:r>
              <a:rPr lang="en-US" sz="2400" dirty="0"/>
              <a:t> </a:t>
            </a:r>
            <a:r>
              <a:rPr lang="en-US" sz="2400" dirty="0" err="1"/>
              <a:t>interogarii</a:t>
            </a:r>
            <a:r>
              <a:rPr lang="en-US" sz="2400" dirty="0"/>
              <a:t>)</a:t>
            </a:r>
          </a:p>
          <a:p>
            <a:pPr marL="891540" lvl="2"/>
            <a:r>
              <a:rPr lang="en-US" sz="2200" dirty="0" err="1"/>
              <a:t>Dac</a:t>
            </a:r>
            <a:r>
              <a:rPr lang="vi-VN" sz="2200" dirty="0"/>
              <a:t>ă î</a:t>
            </a:r>
            <a:r>
              <a:rPr lang="en-US" sz="2200" dirty="0" err="1"/>
              <a:t>nregistrarile</a:t>
            </a:r>
            <a:r>
              <a:rPr lang="en-US" sz="2200" dirty="0"/>
              <a:t> au </a:t>
            </a:r>
            <a:r>
              <a:rPr lang="en-US" sz="2200" dirty="0" err="1"/>
              <a:t>fost</a:t>
            </a:r>
            <a:r>
              <a:rPr lang="en-US" sz="2200" dirty="0"/>
              <a:t> </a:t>
            </a:r>
            <a:r>
              <a:rPr lang="en-US" sz="2200" dirty="0" err="1"/>
              <a:t>modificate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/>
              <a:t>şterse</a:t>
            </a:r>
            <a:r>
              <a:rPr lang="en-US" sz="2200" dirty="0"/>
              <a:t>,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vorba</a:t>
            </a:r>
            <a:r>
              <a:rPr lang="en-US" sz="2200" dirty="0"/>
              <a:t> de </a:t>
            </a:r>
            <a:r>
              <a:rPr lang="en-US" sz="2200" dirty="0" err="1"/>
              <a:t>conflictul</a:t>
            </a:r>
            <a:r>
              <a:rPr lang="en-US" sz="2200" dirty="0"/>
              <a:t> </a:t>
            </a:r>
            <a:r>
              <a:rPr lang="en-US" sz="2200" i="1" dirty="0">
                <a:solidFill>
                  <a:srgbClr val="002060"/>
                </a:solidFill>
              </a:rPr>
              <a:t>unrepeatable read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en-US" sz="2000" dirty="0">
                <a:solidFill>
                  <a:schemeClr val="hlink"/>
                </a:solidFill>
              </a:rPr>
              <a:t>   </a:t>
            </a:r>
            <a:r>
              <a:rPr lang="en-US" sz="2800" dirty="0" err="1"/>
              <a:t>Exemplu</a:t>
            </a:r>
            <a:r>
              <a:rPr lang="en-US" sz="2800" dirty="0"/>
              <a:t>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select * from employees where age &lt; 45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insert into employees values(’John’, ‘Doe’,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50, …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 se </a:t>
            </a:r>
            <a:r>
              <a:rPr lang="en-US" sz="2400" dirty="0" err="1"/>
              <a:t>comite</a:t>
            </a:r>
            <a:endParaRPr lang="en-US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i="1" baseline="-250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select * from employees where age &lt; 45</a:t>
            </a:r>
          </a:p>
          <a:p>
            <a:pPr marL="0" indent="0" eaLnBrk="1" hangingPunct="1">
              <a:buNone/>
            </a:pPr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684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i="1" dirty="0" err="1"/>
              <a:t>Anomalii</a:t>
            </a:r>
            <a:r>
              <a:rPr lang="en-US" sz="3000" i="1" dirty="0"/>
              <a:t> de </a:t>
            </a:r>
            <a:r>
              <a:rPr lang="en-US" sz="3000" i="1" dirty="0" err="1"/>
              <a:t>concurenta</a:t>
            </a:r>
            <a:r>
              <a:rPr lang="en-US" sz="3000" i="1" dirty="0"/>
              <a:t> – </a:t>
            </a:r>
            <a:r>
              <a:rPr lang="en-US" sz="3000" i="1" dirty="0" err="1"/>
              <a:t>planificare</a:t>
            </a:r>
            <a:r>
              <a:rPr lang="en-US" sz="3000" i="1" dirty="0"/>
              <a:t> </a:t>
            </a:r>
            <a:r>
              <a:rPr lang="en-US" sz="3000" i="1" dirty="0" err="1"/>
              <a:t>recuperabila</a:t>
            </a:r>
            <a:r>
              <a:rPr lang="en-US" sz="3000" i="1" dirty="0"/>
              <a:t> (</a:t>
            </a:r>
            <a:r>
              <a:rPr lang="en-US" sz="3000" i="1" dirty="0" err="1"/>
              <a:t>probleme</a:t>
            </a:r>
            <a:r>
              <a:rPr lang="en-US" sz="3000" i="1" dirty="0"/>
              <a:t> de </a:t>
            </a:r>
            <a:r>
              <a:rPr lang="en-US" sz="3000" i="1" dirty="0" err="1"/>
              <a:t>serializare</a:t>
            </a:r>
            <a:r>
              <a:rPr lang="en-US" sz="3000" i="1" dirty="0"/>
              <a:t>)</a:t>
            </a:r>
            <a:endParaRPr lang="en-GB" sz="30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0F1F3-9116-18C7-B566-930304F9E235}"/>
              </a:ext>
            </a:extLst>
          </p:cNvPr>
          <p:cNvSpPr txBox="1"/>
          <p:nvPr/>
        </p:nvSpPr>
        <p:spPr>
          <a:xfrm>
            <a:off x="552400" y="1628800"/>
            <a:ext cx="7620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0" i="0" dirty="0">
                <a:solidFill>
                  <a:srgbClr val="374151"/>
                </a:solidFill>
                <a:effectLst/>
                <a:latin typeface="Söhne"/>
              </a:rPr>
              <a:t>Implică faptul că ordinea de execuție a tranzacțiilor concurente poate afecta rezultatul final, ceea ce poate genera rezultate incorecte.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 </a:t>
            </a:r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recuperabil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oricare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T </a:t>
            </a:r>
            <a:r>
              <a:rPr lang="en-US" dirty="0" err="1"/>
              <a:t>comis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comiterea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T se </a:t>
            </a:r>
            <a:r>
              <a:rPr lang="en-US" dirty="0" err="1"/>
              <a:t>efectueaz</a:t>
            </a:r>
            <a:r>
              <a:rPr lang="vi-VN" dirty="0"/>
              <a:t>ă</a:t>
            </a:r>
            <a:r>
              <a:rPr lang="en-US" dirty="0"/>
              <a:t> dup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comiterea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tranzacţiilor</a:t>
            </a:r>
            <a:r>
              <a:rPr lang="en-US" dirty="0"/>
              <a:t> de la care T a </a:t>
            </a:r>
            <a:r>
              <a:rPr lang="en-US" dirty="0" err="1"/>
              <a:t>citit</a:t>
            </a:r>
            <a:r>
              <a:rPr lang="en-US" dirty="0"/>
              <a:t> un element.</a:t>
            </a:r>
          </a:p>
          <a:p>
            <a:pPr lvl="1"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sz="1800" dirty="0" err="1"/>
              <a:t>Într</a:t>
            </a:r>
            <a:r>
              <a:rPr lang="en-US" sz="1800" dirty="0"/>
              <a:t>-o </a:t>
            </a:r>
            <a:r>
              <a:rPr lang="en-US" sz="1800" i="1" dirty="0" err="1">
                <a:solidFill>
                  <a:srgbClr val="0070C0"/>
                </a:solidFill>
              </a:rPr>
              <a:t>planificare</a:t>
            </a:r>
            <a:r>
              <a:rPr lang="en-US" sz="1800" i="1" dirty="0">
                <a:solidFill>
                  <a:srgbClr val="0070C0"/>
                </a:solidFill>
              </a:rPr>
              <a:t> </a:t>
            </a:r>
            <a:r>
              <a:rPr lang="en-US" sz="1800" i="1" dirty="0" err="1">
                <a:solidFill>
                  <a:srgbClr val="0070C0"/>
                </a:solidFill>
              </a:rPr>
              <a:t>recuperabil</a:t>
            </a:r>
            <a:r>
              <a:rPr lang="vi-VN" sz="1800" i="1" dirty="0">
                <a:solidFill>
                  <a:srgbClr val="0070C0"/>
                </a:solidFill>
              </a:rPr>
              <a:t>ă</a:t>
            </a:r>
            <a:r>
              <a:rPr lang="en-US" sz="1800" dirty="0"/>
              <a:t> </a:t>
            </a:r>
            <a:r>
              <a:rPr lang="en-US" sz="1800" dirty="0" err="1"/>
              <a:t>tranzacţiile</a:t>
            </a:r>
            <a:r>
              <a:rPr lang="en-US" sz="1800" dirty="0"/>
              <a:t> pot </a:t>
            </a:r>
            <a:r>
              <a:rPr lang="en-US" sz="1800" dirty="0" err="1"/>
              <a:t>doar</a:t>
            </a:r>
            <a:r>
              <a:rPr lang="en-US" sz="1800" dirty="0"/>
              <a:t> </a:t>
            </a:r>
            <a:r>
              <a:rPr lang="en-US" sz="1800" dirty="0" err="1"/>
              <a:t>citi</a:t>
            </a:r>
            <a:r>
              <a:rPr lang="en-US" sz="1800" dirty="0"/>
              <a:t> </a:t>
            </a:r>
            <a:r>
              <a:rPr lang="en-US" sz="1800" dirty="0" err="1"/>
              <a:t>dat</a:t>
            </a:r>
            <a:r>
              <a:rPr lang="ro-RO" sz="1800" dirty="0"/>
              <a:t>e</a:t>
            </a:r>
            <a:r>
              <a:rPr lang="en-US" sz="1800" dirty="0"/>
              <a:t> care a </a:t>
            </a:r>
            <a:r>
              <a:rPr lang="en-US" sz="1800" dirty="0" err="1"/>
              <a:t>fost</a:t>
            </a:r>
            <a:r>
              <a:rPr lang="en-US" sz="1800" dirty="0"/>
              <a:t> </a:t>
            </a:r>
            <a:r>
              <a:rPr lang="en-US" sz="1800" dirty="0" err="1"/>
              <a:t>deja</a:t>
            </a:r>
            <a:r>
              <a:rPr lang="en-US" sz="1800" dirty="0"/>
              <a:t> </a:t>
            </a:r>
            <a:r>
              <a:rPr lang="en-US" sz="1800" dirty="0" err="1"/>
              <a:t>comis</a:t>
            </a:r>
            <a:r>
              <a:rPr lang="ro-RO" sz="1800" dirty="0"/>
              <a:t>e</a:t>
            </a:r>
            <a:endParaRPr lang="en-US" sz="18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sz="1800" dirty="0"/>
              <a:t> Exist</a:t>
            </a:r>
            <a:r>
              <a:rPr lang="vi-VN" sz="1800" dirty="0"/>
              <a:t>ă</a:t>
            </a:r>
            <a:r>
              <a:rPr lang="en-US" sz="1800" dirty="0"/>
              <a:t> </a:t>
            </a:r>
            <a:r>
              <a:rPr lang="en-US" sz="1800" dirty="0" err="1"/>
              <a:t>posibilitatea</a:t>
            </a:r>
            <a:r>
              <a:rPr lang="en-US" sz="1800" dirty="0"/>
              <a:t> </a:t>
            </a:r>
            <a:r>
              <a:rPr lang="en-US" sz="1800" dirty="0" err="1"/>
              <a:t>apariţiei</a:t>
            </a:r>
            <a:r>
              <a:rPr lang="en-US" sz="1800" dirty="0"/>
              <a:t> </a:t>
            </a:r>
            <a:r>
              <a:rPr lang="vi-VN" sz="1800" dirty="0"/>
              <a:t> </a:t>
            </a:r>
            <a:r>
              <a:rPr lang="en-US" sz="1800" dirty="0"/>
              <a:t>blind write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eaLnBrk="1" hangingPunct="1"/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r>
              <a:rPr lang="en-US" sz="1800" dirty="0"/>
              <a:t> Care </a:t>
            </a:r>
            <a:r>
              <a:rPr lang="en-US" sz="1800" dirty="0" err="1"/>
              <a:t>ar</a:t>
            </a:r>
            <a:r>
              <a:rPr lang="en-US" sz="1800" dirty="0"/>
              <a:t> </a:t>
            </a:r>
            <a:r>
              <a:rPr lang="en-US" sz="1800" dirty="0" err="1"/>
              <a:t>trebui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fie </a:t>
            </a:r>
            <a:r>
              <a:rPr lang="en-US" sz="1800" dirty="0" err="1"/>
              <a:t>valoarea</a:t>
            </a:r>
            <a:r>
              <a:rPr lang="en-US" sz="1800" dirty="0"/>
              <a:t> </a:t>
            </a:r>
            <a:r>
              <a:rPr lang="en-US" sz="1800" dirty="0" err="1"/>
              <a:t>lui</a:t>
            </a:r>
            <a:r>
              <a:rPr lang="en-US" sz="1800" dirty="0"/>
              <a:t> A </a:t>
            </a:r>
            <a:r>
              <a:rPr lang="en-US" sz="1800" dirty="0" err="1"/>
              <a:t>dupa</a:t>
            </a:r>
            <a:r>
              <a:rPr lang="en-US" sz="1800" dirty="0"/>
              <a:t> </a:t>
            </a:r>
            <a:r>
              <a:rPr lang="en-US" sz="1800" b="1" dirty="0"/>
              <a:t>abort</a:t>
            </a:r>
            <a:r>
              <a:rPr lang="en-US" sz="1800" dirty="0"/>
              <a:t>??</a:t>
            </a:r>
          </a:p>
          <a:p>
            <a:pPr marL="742950" lvl="1" indent="-285750" algn="l">
              <a:buFont typeface="+mj-lt"/>
              <a:buAutoNum type="arabicPeriod"/>
            </a:pPr>
            <a:endParaRPr lang="ro-RO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B7AFFF-031C-CF97-18C4-069ACB734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89040"/>
            <a:ext cx="2687340" cy="219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975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1E1B-9FE0-FF9F-B228-EED650AD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Blocari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B4D25-5AAA-36EE-78DA-CE82B29E4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42900" eaLnBrk="1" hangingPunct="1"/>
            <a:r>
              <a:rPr lang="en-US" b="1" dirty="0" err="1">
                <a:solidFill>
                  <a:srgbClr val="0070C0"/>
                </a:solidFill>
              </a:rPr>
              <a:t>Blocare</a:t>
            </a:r>
            <a:r>
              <a:rPr lang="en-US" b="1" dirty="0">
                <a:solidFill>
                  <a:schemeClr val="folHlink"/>
                </a:solidFill>
              </a:rPr>
              <a:t> - </a:t>
            </a: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mecanismele utilizate pentru a controla accesul concurent la resursele comune</a:t>
            </a:r>
          </a:p>
          <a:p>
            <a:pPr marL="0" indent="0" eaLnBrk="1" hangingPunct="1">
              <a:buNone/>
            </a:pPr>
            <a:endParaRPr lang="it-IT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indent="-342900"/>
            <a:r>
              <a:rPr lang="en-US" b="1" dirty="0" err="1">
                <a:solidFill>
                  <a:srgbClr val="0070C0"/>
                </a:solidFill>
              </a:rPr>
              <a:t>Blocare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partajat</a:t>
            </a:r>
            <a:r>
              <a:rPr lang="vi-VN" b="1" dirty="0">
                <a:solidFill>
                  <a:srgbClr val="0070C0"/>
                </a:solidFill>
              </a:rPr>
              <a:t>ă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shared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read lock</a:t>
            </a:r>
            <a:r>
              <a:rPr lang="en-US" dirty="0"/>
              <a:t>):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blocheaz</a:t>
            </a:r>
            <a:r>
              <a:rPr lang="vi-VN" dirty="0"/>
              <a:t>ă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in mod </a:t>
            </a:r>
            <a:r>
              <a:rPr lang="en-US" dirty="0" err="1"/>
              <a:t>partajat</a:t>
            </a:r>
            <a:r>
              <a:rPr lang="en-US" dirty="0"/>
              <a:t>,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acel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nu il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.</a:t>
            </a:r>
          </a:p>
          <a:p>
            <a:pPr lvl="1" indent="-342900"/>
            <a:endParaRPr lang="en-US" dirty="0"/>
          </a:p>
          <a:p>
            <a:pPr lvl="1" indent="-342900"/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Blocare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exclusiv</a:t>
            </a:r>
            <a:r>
              <a:rPr lang="vi-VN" b="1" dirty="0">
                <a:solidFill>
                  <a:srgbClr val="0070C0"/>
                </a:solidFill>
              </a:rPr>
              <a:t>ă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exclusive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write lock</a:t>
            </a:r>
            <a:r>
              <a:rPr lang="en-US" dirty="0"/>
              <a:t>):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blocheaz</a:t>
            </a:r>
            <a:r>
              <a:rPr lang="vi-VN" dirty="0"/>
              <a:t>ă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in mod </a:t>
            </a:r>
            <a:r>
              <a:rPr lang="en-US" dirty="0" err="1"/>
              <a:t>exclusiv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obiectului</a:t>
            </a:r>
            <a:r>
              <a:rPr lang="en-US" dirty="0"/>
              <a:t>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5076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71E1-CB54-C6D7-8376-C82BDC0F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Gestionare</a:t>
            </a:r>
            <a:r>
              <a:rPr lang="en-US" dirty="0"/>
              <a:t> </a:t>
            </a:r>
            <a:r>
              <a:rPr lang="en-US" dirty="0" err="1"/>
              <a:t>Blocari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ABC5-0EA8-27A5-1522-F66205139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42900" eaLnBrk="1" hangingPunct="1"/>
            <a:r>
              <a:rPr lang="ro-RO" i="1" dirty="0">
                <a:solidFill>
                  <a:srgbClr val="0070C0"/>
                </a:solidFill>
              </a:rPr>
              <a:t>L</a:t>
            </a:r>
            <a:r>
              <a:rPr lang="en-US" i="1" dirty="0" err="1">
                <a:solidFill>
                  <a:srgbClr val="0070C0"/>
                </a:solidFill>
              </a:rPr>
              <a:t>ock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ro-RO" i="1" dirty="0">
                <a:solidFill>
                  <a:srgbClr val="0070C0"/>
                </a:solidFill>
              </a:rPr>
              <a:t>M</a:t>
            </a:r>
            <a:r>
              <a:rPr lang="en-US" i="1" dirty="0" err="1">
                <a:solidFill>
                  <a:srgbClr val="0070C0"/>
                </a:solidFill>
              </a:rPr>
              <a:t>anagement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– </a:t>
            </a:r>
            <a:r>
              <a:rPr lang="en-US" dirty="0" err="1"/>
              <a:t>modul</a:t>
            </a:r>
            <a:r>
              <a:rPr lang="en-US" dirty="0"/>
              <a:t> care </a:t>
            </a:r>
            <a:r>
              <a:rPr lang="en-US" dirty="0" err="1"/>
              <a:t>gestioneaza</a:t>
            </a:r>
            <a:r>
              <a:rPr lang="en-US" dirty="0"/>
              <a:t> </a:t>
            </a:r>
            <a:r>
              <a:rPr lang="en-US" dirty="0" err="1"/>
              <a:t>cererile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deblocare</a:t>
            </a:r>
            <a:endParaRPr lang="ro-RO" dirty="0"/>
          </a:p>
          <a:p>
            <a:pPr marL="228600" indent="-228600" eaLnBrk="1" hangingPunct="1"/>
            <a:endParaRPr lang="en-US" sz="1200" i="1" dirty="0"/>
          </a:p>
          <a:p>
            <a:pPr indent="-342900" eaLnBrk="1" hangingPunct="1"/>
            <a:r>
              <a:rPr lang="en-US" dirty="0"/>
              <a:t> </a:t>
            </a:r>
            <a:r>
              <a:rPr lang="en-US" dirty="0" err="1"/>
              <a:t>Tabel</a:t>
            </a:r>
            <a:r>
              <a:rPr lang="vi-VN" dirty="0"/>
              <a:t>ă </a:t>
            </a:r>
            <a:r>
              <a:rPr lang="en-US" dirty="0"/>
              <a:t>de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vi-VN" dirty="0"/>
              <a:t> </a:t>
            </a:r>
            <a:r>
              <a:rPr lang="en-US" dirty="0"/>
              <a:t>:</a:t>
            </a:r>
          </a:p>
          <a:p>
            <a:pPr marL="914400" lvl="1" indent="-3429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Tranzacţiile</a:t>
            </a:r>
            <a:r>
              <a:rPr lang="en-US" dirty="0"/>
              <a:t> care au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o </a:t>
            </a:r>
            <a:r>
              <a:rPr lang="en-US" dirty="0" err="1"/>
              <a:t>blocare</a:t>
            </a:r>
            <a:endParaRPr lang="en-US" dirty="0"/>
          </a:p>
          <a:p>
            <a:pPr marL="914400" lvl="1" indent="-3429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(</a:t>
            </a:r>
            <a:r>
              <a:rPr lang="en-US" i="1" dirty="0"/>
              <a:t>shared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exclusive</a:t>
            </a:r>
            <a:r>
              <a:rPr lang="en-US" dirty="0"/>
              <a:t>)</a:t>
            </a:r>
          </a:p>
          <a:p>
            <a:pPr marL="914400" lvl="1" indent="-342900" eaLnBrk="1" hangingPunct="1">
              <a:buSzPct val="75000"/>
            </a:pPr>
            <a:r>
              <a:rPr lang="en-US" dirty="0"/>
              <a:t> Pointer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o </a:t>
            </a:r>
            <a:r>
              <a:rPr lang="en-US" dirty="0" err="1"/>
              <a:t>coad</a:t>
            </a:r>
            <a:r>
              <a:rPr lang="vi-VN" dirty="0"/>
              <a:t>ă</a:t>
            </a:r>
            <a:r>
              <a:rPr lang="en-US" dirty="0"/>
              <a:t> de </a:t>
            </a:r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blocare</a:t>
            </a:r>
            <a:endParaRPr lang="ro-RO" dirty="0"/>
          </a:p>
          <a:p>
            <a:pPr marL="857250" lvl="1" indent="-285750" eaLnBrk="1" hangingPunct="1">
              <a:buSzPct val="75000"/>
            </a:pPr>
            <a:endParaRPr lang="en-US" sz="1400" dirty="0"/>
          </a:p>
          <a:p>
            <a:pPr indent="-342900" eaLnBrk="1" hangingPunct="1"/>
            <a:r>
              <a:rPr lang="en-US" dirty="0"/>
              <a:t> </a:t>
            </a:r>
            <a:r>
              <a:rPr lang="en-US" dirty="0" err="1"/>
              <a:t>Operaţiile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deblocare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 fie </a:t>
            </a:r>
            <a:r>
              <a:rPr lang="en-US" dirty="0" err="1">
                <a:solidFill>
                  <a:srgbClr val="0070C0"/>
                </a:solidFill>
              </a:rPr>
              <a:t>atomice</a:t>
            </a:r>
            <a:r>
              <a:rPr lang="en-US" dirty="0">
                <a:solidFill>
                  <a:srgbClr val="0070C0"/>
                </a:solidFill>
              </a:rPr>
              <a:t>!</a:t>
            </a:r>
            <a:r>
              <a:rPr lang="en-US" dirty="0"/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0782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EA3B-7CE8-ABC7-9A48-DE84A70F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Phase Locking</a:t>
            </a:r>
            <a:endParaRPr lang="ro-R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F5F84B-9CB5-043C-3302-37CBE72751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71" y="2780928"/>
            <a:ext cx="6459718" cy="300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778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C3E3-DD63-056C-41B6-B3E6B059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2 Phase Locking</a:t>
            </a:r>
            <a:endParaRPr lang="ro-RO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23EAA-2868-D526-8645-07AA79FC4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437" y="2400300"/>
            <a:ext cx="5343525" cy="3200400"/>
          </a:xfrm>
        </p:spPr>
      </p:pic>
    </p:spTree>
    <p:extLst>
      <p:ext uri="{BB962C8B-B14F-4D97-AF65-F5344CB8AC3E}">
        <p14:creationId xmlns:p14="http://schemas.microsoft.com/office/powerpoint/2010/main" val="853250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3833-E736-D663-D515-A823E8D8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  <a:endParaRPr lang="ro-RO" dirty="0"/>
          </a:p>
        </p:txBody>
      </p:sp>
      <p:pic>
        <p:nvPicPr>
          <p:cNvPr id="2050" name="Picture 2" descr="C# Deadlocks in Depth - Part 1 | Michael's Coding Spot">
            <a:extLst>
              <a:ext uri="{FF2B5EF4-FFF2-40B4-BE49-F238E27FC236}">
                <a16:creationId xmlns:a16="http://schemas.microsoft.com/office/drawing/2014/main" id="{18370D01-84CA-1324-46F2-D234EFCA7B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44" y="2348880"/>
            <a:ext cx="3979333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2665D8-88DA-6B99-3244-2169C36A2143}"/>
              </a:ext>
            </a:extLst>
          </p:cNvPr>
          <p:cNvSpPr txBox="1"/>
          <p:nvPr/>
        </p:nvSpPr>
        <p:spPr>
          <a:xfrm>
            <a:off x="1259632" y="1916832"/>
            <a:ext cx="569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or more transactions waiting for the same resources.</a:t>
            </a:r>
            <a:endParaRPr lang="ro-R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0C40E-E184-6088-2ECB-901C49C6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777" y="3267075"/>
            <a:ext cx="47148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10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93DB-3C3A-25EE-400A-E2FECDFC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Prevenire</a:t>
            </a:r>
            <a:r>
              <a:rPr lang="en-US" dirty="0"/>
              <a:t> deadlock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7296-2292-81B9-0BF2-207A9FCB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Lock Hierarchy: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Establish a hierarchy for acquiring locks. Ensure that transactions always request locks in the same order. This helps prevent circular waiting, a key condition for deadlocks.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Timeouts: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Implement timeouts for lock requests. If a transaction cannot acquire a lock within a specified time frame, it releases its current locks and retries. This prevents a transaction from holding locks indefinitely and causing a deadlock.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Deadlock Detection: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Implement a deadlock detection mechanism that periodically checks for circular wait conditions. If a deadlock is detected, the system can take corrective action, such as aborting one of the transactions involved.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Lock Timeout: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Set a timeout for how long a transaction can hold a lock. If a transaction exceeds this time limit, it releases its locks. This helps avoid situations where a transaction holds a lock for an extended period, potentially leading to deadlocks.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Transaction Ordering: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Enforce a consistent order in which transactions acquire locks. This can be based on transaction IDs or other criteria. By doing so, you reduce the chances of circular wait conditions.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Reducing Transaction Time: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Minimize the time a transaction holds locks. Break down complex transactions into smaller units or release locks when they are no longer needed during the course of a transaction.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Database Design: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Optimize the database schema and queries to minimize the need for locks. Consider denormalization or other performance tuning techniques to reduce contention for resources.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User Education: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Educate developers and users about deadlock prevention strategies. Encourage practices that reduce the likelihood of deadlocks, such as acquiring locks in a consistent order.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6295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B4DF-D00A-7C55-A715-E41C560D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Detectare</a:t>
            </a:r>
            <a:r>
              <a:rPr lang="en-US" dirty="0"/>
              <a:t> deadlock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E52D-3FB2-050C-E661-078DBD87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42900" eaLnBrk="1" hangingPunct="1"/>
            <a:r>
              <a:rPr lang="en-US" dirty="0"/>
              <a:t>Se </a:t>
            </a:r>
            <a:r>
              <a:rPr lang="en-US" dirty="0" err="1"/>
              <a:t>foloseste</a:t>
            </a:r>
            <a:r>
              <a:rPr lang="en-US" dirty="0"/>
              <a:t> un </a:t>
            </a:r>
            <a:r>
              <a:rPr lang="en-US" dirty="0" err="1">
                <a:solidFill>
                  <a:srgbClr val="0070C0"/>
                </a:solidFill>
              </a:rPr>
              <a:t>graf</a:t>
            </a:r>
            <a:r>
              <a:rPr lang="en-US" dirty="0">
                <a:solidFill>
                  <a:srgbClr val="0070C0"/>
                </a:solidFill>
              </a:rPr>
              <a:t> de </a:t>
            </a:r>
            <a:r>
              <a:rPr lang="en-US" dirty="0" err="1">
                <a:solidFill>
                  <a:srgbClr val="0070C0"/>
                </a:solidFill>
              </a:rPr>
              <a:t>aşteptare</a:t>
            </a:r>
            <a:r>
              <a:rPr lang="en-US" dirty="0"/>
              <a:t>:</a:t>
            </a:r>
          </a:p>
          <a:p>
            <a:pPr marL="914400" lvl="1" indent="-3429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Nodurile</a:t>
            </a:r>
            <a:r>
              <a:rPr lang="en-US" dirty="0"/>
              <a:t> sunt </a:t>
            </a:r>
            <a:r>
              <a:rPr lang="en-US" dirty="0" err="1"/>
              <a:t>tranzacţii</a:t>
            </a:r>
            <a:endParaRPr lang="en-US" dirty="0"/>
          </a:p>
          <a:p>
            <a:pPr marL="914400" lvl="1" indent="-342900" eaLnBrk="1" hangingPunct="1">
              <a:buSzPct val="75000"/>
            </a:pPr>
            <a:r>
              <a:rPr lang="en-US" dirty="0"/>
              <a:t> Exist</a:t>
            </a:r>
            <a:r>
              <a:rPr lang="vi-VN" dirty="0"/>
              <a:t>ă</a:t>
            </a:r>
            <a:r>
              <a:rPr lang="en-US" dirty="0"/>
              <a:t> un arc de la T</a:t>
            </a:r>
            <a:r>
              <a:rPr lang="en-US" baseline="-25000" dirty="0"/>
              <a:t>i</a:t>
            </a:r>
            <a:r>
              <a:rPr lang="en-US" dirty="0"/>
              <a:t> la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aşteapt</a:t>
            </a:r>
            <a:r>
              <a:rPr lang="vi-VN" dirty="0"/>
              <a:t>ă</a:t>
            </a:r>
            <a:r>
              <a:rPr lang="en-US" dirty="0"/>
              <a:t> dup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elibereze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blocat</a:t>
            </a:r>
            <a:endParaRPr lang="en-US" dirty="0"/>
          </a:p>
          <a:p>
            <a:pPr marL="914400" lvl="1" indent="-342900" eaLnBrk="1" hangingPunct="1">
              <a:buSzPct val="75000"/>
            </a:pPr>
            <a:r>
              <a:rPr lang="en-US" dirty="0"/>
              <a:t>Se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aparitia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circuit la </a:t>
            </a:r>
            <a:r>
              <a:rPr lang="en-US" dirty="0" err="1"/>
              <a:t>intervale</a:t>
            </a:r>
            <a:r>
              <a:rPr lang="en-US" dirty="0"/>
              <a:t> </a:t>
            </a:r>
            <a:r>
              <a:rPr lang="en-US" dirty="0" err="1"/>
              <a:t>predefinite</a:t>
            </a:r>
            <a:r>
              <a:rPr lang="en-US" dirty="0"/>
              <a:t> de </a:t>
            </a:r>
            <a:r>
              <a:rPr lang="en-US" dirty="0" err="1"/>
              <a:t>timp</a:t>
            </a:r>
            <a:endParaRPr lang="en-US" dirty="0"/>
          </a:p>
          <a:p>
            <a:pPr marL="914400" lvl="1" indent="-342900" eaLnBrk="1" hangingPunct="1">
              <a:buSzPct val="75000"/>
            </a:pPr>
            <a:r>
              <a:rPr lang="en-US" dirty="0"/>
              <a:t>Daca </a:t>
            </a:r>
            <a:r>
              <a:rPr lang="en-US" dirty="0" err="1"/>
              <a:t>exista</a:t>
            </a:r>
            <a:r>
              <a:rPr lang="en-US" dirty="0"/>
              <a:t> un circuit, </a:t>
            </a:r>
            <a:r>
              <a:rPr lang="en-US" dirty="0" err="1"/>
              <a:t>atunci</a:t>
            </a:r>
            <a:r>
              <a:rPr lang="en-US" dirty="0"/>
              <a:t> a ap</a:t>
            </a:r>
            <a:r>
              <a:rPr lang="vi-VN" dirty="0"/>
              <a:t>ă</a:t>
            </a:r>
            <a:r>
              <a:rPr lang="en-US" dirty="0"/>
              <a:t>rut un </a:t>
            </a:r>
            <a:r>
              <a:rPr lang="en-US" i="1" dirty="0"/>
              <a:t>deadlock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7127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BB36-6F15-C48A-94D5-2EE8401B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a deadlock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047A4-11C6-E4F3-5F4C-72D3416CC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42900" eaLnBrk="1" hangingPunct="1"/>
            <a:r>
              <a:rPr lang="en-US" dirty="0" err="1"/>
              <a:t>Criterii</a:t>
            </a:r>
            <a:r>
              <a:rPr lang="en-US" dirty="0"/>
              <a:t> de </a:t>
            </a:r>
            <a:r>
              <a:rPr lang="en-US" dirty="0" err="1"/>
              <a:t>alegere</a:t>
            </a:r>
            <a:r>
              <a:rPr lang="en-US" dirty="0"/>
              <a:t> a </a:t>
            </a:r>
            <a:r>
              <a:rPr lang="en-US" dirty="0" err="1"/>
              <a:t>tranzactiei</a:t>
            </a:r>
            <a:r>
              <a:rPr lang="en-US" dirty="0"/>
              <a:t> care </a:t>
            </a:r>
            <a:r>
              <a:rPr lang="en-US" dirty="0" err="1"/>
              <a:t>va</a:t>
            </a:r>
            <a:r>
              <a:rPr lang="en-US" dirty="0"/>
              <a:t> face rollback:</a:t>
            </a:r>
          </a:p>
          <a:p>
            <a:pPr marL="914400" lvl="1" indent="-342900" eaLnBrk="1" hangingPunct="1"/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execuţiei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marL="914400" lvl="1" indent="-342900" eaLnBrk="1" hangingPunct="1"/>
            <a:r>
              <a:rPr lang="en-US" dirty="0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endParaRPr lang="en-US" dirty="0"/>
          </a:p>
          <a:p>
            <a:pPr marL="914400" lvl="1" indent="-342900" eaLnBrk="1" hangingPunct="1"/>
            <a:r>
              <a:rPr lang="en-US" dirty="0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urmeaz</a:t>
            </a:r>
            <a:r>
              <a:rPr lang="vi-VN" dirty="0"/>
              <a:t>ă </a:t>
            </a:r>
            <a:r>
              <a:rPr lang="en-US" dirty="0" err="1"/>
              <a:t>sa</a:t>
            </a:r>
            <a:r>
              <a:rPr lang="vi-VN" dirty="0"/>
              <a:t> </a:t>
            </a:r>
            <a:r>
              <a:rPr lang="en-US" dirty="0"/>
              <a:t>fie </a:t>
            </a:r>
            <a:r>
              <a:rPr lang="en-US" dirty="0" err="1"/>
              <a:t>modificate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endParaRPr lang="en-US" dirty="0"/>
          </a:p>
          <a:p>
            <a:pPr marL="914400" lvl="1" indent="-342900" eaLnBrk="1" hangingPunct="1"/>
            <a:r>
              <a:rPr lang="en-US" dirty="0" err="1"/>
              <a:t>Numarul</a:t>
            </a:r>
            <a:r>
              <a:rPr lang="en-US" dirty="0"/>
              <a:t> precedent de rollbacks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tranzactii</a:t>
            </a:r>
            <a:r>
              <a:rPr lang="en-US" dirty="0"/>
              <a:t> (s</a:t>
            </a:r>
            <a:r>
              <a:rPr lang="vi-VN" dirty="0"/>
              <a:t>ă</a:t>
            </a:r>
            <a:r>
              <a:rPr lang="en-US" dirty="0"/>
              <a:t> nu fie </a:t>
            </a:r>
            <a:r>
              <a:rPr lang="en-US" dirty="0" err="1"/>
              <a:t>aleas</a:t>
            </a:r>
            <a:r>
              <a:rPr lang="vi-VN" dirty="0"/>
              <a:t>ă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aceeaşi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rollback)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36397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53278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A2C54F-5D01-4485-A6F4-84F731D6EB1F}"/>
</file>

<file path=customXml/itemProps2.xml><?xml version="1.0" encoding="utf-8"?>
<ds:datastoreItem xmlns:ds="http://schemas.openxmlformats.org/officeDocument/2006/customXml" ds:itemID="{785D8987-071F-4D57-9E13-A1171E71D064}"/>
</file>

<file path=customXml/itemProps3.xml><?xml version="1.0" encoding="utf-8"?>
<ds:datastoreItem xmlns:ds="http://schemas.openxmlformats.org/officeDocument/2006/customXml" ds:itemID="{727B4D56-0E9D-4CD2-8223-0ECED41EF843}"/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1646</TotalTime>
  <Words>2315</Words>
  <Application>Microsoft Office PowerPoint</Application>
  <PresentationFormat>On-screen Show (4:3)</PresentationFormat>
  <Paragraphs>267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</vt:lpstr>
      <vt:lpstr>Courier New</vt:lpstr>
      <vt:lpstr>Söhne</vt:lpstr>
      <vt:lpstr>Wingdings</vt:lpstr>
      <vt:lpstr>Adjacency</vt:lpstr>
      <vt:lpstr>Tranzactii si Controlul Concurentei</vt:lpstr>
      <vt:lpstr>Discutii</vt:lpstr>
      <vt:lpstr>Consistenta in BD</vt:lpstr>
      <vt:lpstr>ACID– reguli de consistenta BD</vt:lpstr>
      <vt:lpstr>Ce e o tranzactie? </vt:lpstr>
      <vt:lpstr>Starea unei tranzactii</vt:lpstr>
      <vt:lpstr>Planificarea tranzactiilor</vt:lpstr>
      <vt:lpstr>Planificare seriala</vt:lpstr>
      <vt:lpstr>Planificare non - seriala</vt:lpstr>
      <vt:lpstr>Planificari echivalente ale tranzactiilor</vt:lpstr>
      <vt:lpstr>Planificarea tranzactiilor</vt:lpstr>
      <vt:lpstr>Planificarea tranzactiilor / Serializabilitate</vt:lpstr>
      <vt:lpstr>Serializabilitate</vt:lpstr>
      <vt:lpstr>Tipuri de planificari</vt:lpstr>
      <vt:lpstr>Planificari view-serializabile</vt:lpstr>
      <vt:lpstr>Planificari view-serializabile</vt:lpstr>
      <vt:lpstr>Planificari conflict- serializabile. Cum putem determina daca exista conflicte?</vt:lpstr>
      <vt:lpstr>Planificare serializabila</vt:lpstr>
      <vt:lpstr>Anomalii de concurenta</vt:lpstr>
      <vt:lpstr>Anomalii de concurenta - detalii</vt:lpstr>
      <vt:lpstr>Anomalii de concurenta - detalii</vt:lpstr>
      <vt:lpstr>Anomalii de concurenta – planificare recuperabila (probleme de serializare)</vt:lpstr>
      <vt:lpstr>Blocari</vt:lpstr>
      <vt:lpstr>Gestionare Blocari</vt:lpstr>
      <vt:lpstr>2 Phase Locking</vt:lpstr>
      <vt:lpstr>Strict 2 Phase Locking</vt:lpstr>
      <vt:lpstr>Deadlock</vt:lpstr>
      <vt:lpstr>Prevenire deadlock</vt:lpstr>
      <vt:lpstr>Detectare deadlock</vt:lpstr>
      <vt:lpstr>Fixing a deadlock</vt:lpstr>
      <vt:lpstr>Q&amp;A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Findings from Teaching Entrepreneurship to Undergraduate Multidisciplinary Students: Case Study</dc:title>
  <dc:creator>diana</dc:creator>
  <cp:lastModifiedBy>MANUELA-ANDREEA PETRESCU</cp:lastModifiedBy>
  <cp:revision>75</cp:revision>
  <dcterms:created xsi:type="dcterms:W3CDTF">2022-09-17T16:07:07Z</dcterms:created>
  <dcterms:modified xsi:type="dcterms:W3CDTF">2024-01-31T06:42:08Z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